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Lst>
  <p:sldIdLst>
    <p:sldId id="256" r:id="rId5"/>
    <p:sldId id="257" r:id="rId6"/>
    <p:sldId id="260" r:id="rId7"/>
    <p:sldId id="261" r:id="rId8"/>
    <p:sldId id="262" r:id="rId9"/>
    <p:sldId id="263" r:id="rId10"/>
    <p:sldId id="265" r:id="rId11"/>
    <p:sldId id="266" r:id="rId12"/>
    <p:sldId id="270" r:id="rId13"/>
    <p:sldId id="264" r:id="rId14"/>
    <p:sldId id="267" r:id="rId15"/>
    <p:sldId id="268" r:id="rId16"/>
    <p:sldId id="269" r:id="rId17"/>
    <p:sldId id="272" r:id="rId18"/>
    <p:sldId id="273" r:id="rId19"/>
    <p:sldId id="271" r:id="rId20"/>
    <p:sldId id="282" r:id="rId21"/>
    <p:sldId id="277" r:id="rId22"/>
    <p:sldId id="28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ACF180-B26E-4285-86EA-025FCB64B752}"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1037DCA9-7236-47FC-8432-563DCB6F8998}">
      <dgm:prSet custT="1"/>
      <dgm:spPr/>
      <dgm:t>
        <a:bodyPr/>
        <a:lstStyle/>
        <a:p>
          <a:pPr>
            <a:lnSpc>
              <a:spcPct val="100000"/>
            </a:lnSpc>
            <a:defRPr b="1"/>
          </a:pPr>
          <a:r>
            <a:rPr lang="en-IN" sz="1800" b="1" kern="1200" dirty="0">
              <a:solidFill>
                <a:prstClr val="black">
                  <a:hueOff val="0"/>
                  <a:satOff val="0"/>
                  <a:lumOff val="0"/>
                  <a:alphaOff val="0"/>
                </a:prstClr>
              </a:solidFill>
              <a:latin typeface="Grandview Display"/>
              <a:ea typeface="+mn-ea"/>
              <a:cs typeface="+mn-cs"/>
            </a:rPr>
            <a:t>Police Command </a:t>
          </a:r>
          <a:r>
            <a:rPr lang="en-IN" sz="1800" b="1" kern="1200" dirty="0" err="1">
              <a:solidFill>
                <a:prstClr val="black">
                  <a:hueOff val="0"/>
                  <a:satOff val="0"/>
                  <a:lumOff val="0"/>
                  <a:alphaOff val="0"/>
                </a:prstClr>
              </a:solidFill>
              <a:latin typeface="Grandview Display"/>
              <a:ea typeface="+mn-ea"/>
              <a:cs typeface="+mn-cs"/>
            </a:rPr>
            <a:t>Center</a:t>
          </a:r>
          <a:endParaRPr lang="en-US" sz="1800" b="1" kern="1200" dirty="0">
            <a:solidFill>
              <a:prstClr val="black">
                <a:hueOff val="0"/>
                <a:satOff val="0"/>
                <a:lumOff val="0"/>
                <a:alphaOff val="0"/>
              </a:prstClr>
            </a:solidFill>
            <a:latin typeface="Grandview Display"/>
            <a:ea typeface="+mn-ea"/>
            <a:cs typeface="+mn-cs"/>
          </a:endParaRPr>
        </a:p>
      </dgm:t>
    </dgm:pt>
    <dgm:pt modelId="{66C6B40E-D09C-44E3-9B30-06C87789ADB2}" type="parTrans" cxnId="{772212F9-7468-4A58-92AA-138E0C3988A3}">
      <dgm:prSet/>
      <dgm:spPr/>
      <dgm:t>
        <a:bodyPr/>
        <a:lstStyle/>
        <a:p>
          <a:endParaRPr lang="en-US"/>
        </a:p>
      </dgm:t>
    </dgm:pt>
    <dgm:pt modelId="{1515F250-DF6A-46F4-96CF-ADA1CCB287BC}" type="sibTrans" cxnId="{772212F9-7468-4A58-92AA-138E0C3988A3}">
      <dgm:prSet/>
      <dgm:spPr/>
      <dgm:t>
        <a:bodyPr/>
        <a:lstStyle/>
        <a:p>
          <a:pPr>
            <a:lnSpc>
              <a:spcPct val="100000"/>
            </a:lnSpc>
            <a:defRPr b="1"/>
          </a:pPr>
          <a:endParaRPr lang="en-US"/>
        </a:p>
      </dgm:t>
    </dgm:pt>
    <dgm:pt modelId="{3E139AF6-4C03-489C-A288-CD694966ED23}">
      <dgm:prSet/>
      <dgm:spPr/>
      <dgm:t>
        <a:bodyPr/>
        <a:lstStyle/>
        <a:p>
          <a:pPr>
            <a:lnSpc>
              <a:spcPct val="100000"/>
            </a:lnSpc>
          </a:pPr>
          <a:r>
            <a:rPr lang="en-US" dirty="0"/>
            <a:t>Uses a </a:t>
          </a:r>
          <a:r>
            <a:rPr lang="en-US" dirty="0" err="1"/>
            <a:t>CatBoost</a:t>
          </a:r>
          <a:r>
            <a:rPr lang="en-US" dirty="0"/>
            <a:t> ML model to instantly triage camera-flagged violations, enabling rapid response in critical zones.</a:t>
          </a:r>
        </a:p>
      </dgm:t>
    </dgm:pt>
    <dgm:pt modelId="{78F88130-EC52-4A74-B7D3-8A71B96E1A28}" type="parTrans" cxnId="{EEAA09E5-5253-4995-9EFC-3E940BCF9105}">
      <dgm:prSet/>
      <dgm:spPr/>
      <dgm:t>
        <a:bodyPr/>
        <a:lstStyle/>
        <a:p>
          <a:endParaRPr lang="en-US"/>
        </a:p>
      </dgm:t>
    </dgm:pt>
    <dgm:pt modelId="{F1F6A0E2-6511-40D1-83FA-E0E631A4ED09}" type="sibTrans" cxnId="{EEAA09E5-5253-4995-9EFC-3E940BCF9105}">
      <dgm:prSet/>
      <dgm:spPr/>
      <dgm:t>
        <a:bodyPr/>
        <a:lstStyle/>
        <a:p>
          <a:endParaRPr lang="en-US"/>
        </a:p>
      </dgm:t>
    </dgm:pt>
    <dgm:pt modelId="{227D5072-4587-431F-A7E1-A1DC4893A97A}">
      <dgm:prSet/>
      <dgm:spPr/>
      <dgm:t>
        <a:bodyPr/>
        <a:lstStyle/>
        <a:p>
          <a:pPr>
            <a:lnSpc>
              <a:spcPct val="100000"/>
            </a:lnSpc>
            <a:defRPr b="1"/>
          </a:pPr>
          <a:r>
            <a:rPr lang="en-US" dirty="0"/>
            <a:t>Logistics Intelligence Engine</a:t>
          </a:r>
        </a:p>
      </dgm:t>
    </dgm:pt>
    <dgm:pt modelId="{4B145D97-42AE-49B3-8453-0D2DE743CF83}" type="parTrans" cxnId="{EA99E0D1-04D0-4EB4-8198-B0C7F8110378}">
      <dgm:prSet/>
      <dgm:spPr/>
      <dgm:t>
        <a:bodyPr/>
        <a:lstStyle/>
        <a:p>
          <a:endParaRPr lang="en-US"/>
        </a:p>
      </dgm:t>
    </dgm:pt>
    <dgm:pt modelId="{F6CD9B95-D457-4D83-B9B2-06027EEEFC74}" type="sibTrans" cxnId="{EA99E0D1-04D0-4EB4-8198-B0C7F8110378}">
      <dgm:prSet/>
      <dgm:spPr/>
      <dgm:t>
        <a:bodyPr/>
        <a:lstStyle/>
        <a:p>
          <a:pPr>
            <a:lnSpc>
              <a:spcPct val="100000"/>
            </a:lnSpc>
            <a:defRPr b="1"/>
          </a:pPr>
          <a:endParaRPr lang="en-US"/>
        </a:p>
      </dgm:t>
    </dgm:pt>
    <dgm:pt modelId="{AFDB7B8A-D165-44E8-BCC8-5880424A1BA5}">
      <dgm:prSet/>
      <dgm:spPr/>
      <dgm:t>
        <a:bodyPr/>
        <a:lstStyle/>
        <a:p>
          <a:pPr>
            <a:lnSpc>
              <a:spcPct val="100000"/>
            </a:lnSpc>
          </a:pPr>
          <a:r>
            <a:rPr lang="en-US" dirty="0"/>
            <a:t>Applies predictive analytics and spatial clustering to transform congestion and blockages into real-time risk matrices.</a:t>
          </a:r>
        </a:p>
      </dgm:t>
    </dgm:pt>
    <dgm:pt modelId="{82BA0BDD-64CC-4158-BCD0-60B4886B0124}" type="parTrans" cxnId="{93F9F0C4-7A5A-4134-BF5D-F705C8413EDE}">
      <dgm:prSet/>
      <dgm:spPr/>
      <dgm:t>
        <a:bodyPr/>
        <a:lstStyle/>
        <a:p>
          <a:endParaRPr lang="en-US"/>
        </a:p>
      </dgm:t>
    </dgm:pt>
    <dgm:pt modelId="{F9F6C4B6-B2C9-4F79-A21E-13106C84C6CF}" type="sibTrans" cxnId="{93F9F0C4-7A5A-4134-BF5D-F705C8413EDE}">
      <dgm:prSet/>
      <dgm:spPr/>
      <dgm:t>
        <a:bodyPr/>
        <a:lstStyle/>
        <a:p>
          <a:endParaRPr lang="en-US"/>
        </a:p>
      </dgm:t>
    </dgm:pt>
    <dgm:pt modelId="{5DD31F72-68BE-4A39-9AF8-B01A1E1F0F50}">
      <dgm:prSet/>
      <dgm:spPr/>
      <dgm:t>
        <a:bodyPr/>
        <a:lstStyle/>
        <a:p>
          <a:pPr>
            <a:lnSpc>
              <a:spcPct val="100000"/>
            </a:lnSpc>
            <a:defRPr b="1"/>
          </a:pPr>
          <a:r>
            <a:rPr lang="en-US" dirty="0"/>
            <a:t>Integrated Dual-Engine Architecture</a:t>
          </a:r>
        </a:p>
      </dgm:t>
    </dgm:pt>
    <dgm:pt modelId="{9A490FFA-F0E2-4713-843F-6E8C5AA1A9AB}" type="parTrans" cxnId="{0D494C7B-01B2-4286-AD1D-A53915223F16}">
      <dgm:prSet/>
      <dgm:spPr/>
      <dgm:t>
        <a:bodyPr/>
        <a:lstStyle/>
        <a:p>
          <a:endParaRPr lang="en-US"/>
        </a:p>
      </dgm:t>
    </dgm:pt>
    <dgm:pt modelId="{3232972A-0B00-4525-82C6-FC1600C156AD}" type="sibTrans" cxnId="{0D494C7B-01B2-4286-AD1D-A53915223F16}">
      <dgm:prSet/>
      <dgm:spPr/>
      <dgm:t>
        <a:bodyPr/>
        <a:lstStyle/>
        <a:p>
          <a:endParaRPr lang="en-US"/>
        </a:p>
      </dgm:t>
    </dgm:pt>
    <dgm:pt modelId="{543B62DE-BCCF-4A46-A706-6742ACD9224E}">
      <dgm:prSet/>
      <dgm:spPr/>
      <dgm:t>
        <a:bodyPr/>
        <a:lstStyle/>
        <a:p>
          <a:pPr>
            <a:lnSpc>
              <a:spcPct val="100000"/>
            </a:lnSpc>
          </a:pPr>
          <a:r>
            <a:rPr lang="en-US"/>
            <a:t>Modular, scalable design converts reactive data into proactive intelligence benefiting both municipal and commercial domains.</a:t>
          </a:r>
        </a:p>
      </dgm:t>
    </dgm:pt>
    <dgm:pt modelId="{0835D7BF-9F4D-4962-B101-B9D3663FD32C}" type="parTrans" cxnId="{CB2B12D8-E104-49E4-9A08-0A9450BBA338}">
      <dgm:prSet/>
      <dgm:spPr/>
      <dgm:t>
        <a:bodyPr/>
        <a:lstStyle/>
        <a:p>
          <a:endParaRPr lang="en-US"/>
        </a:p>
      </dgm:t>
    </dgm:pt>
    <dgm:pt modelId="{C77B8479-60F3-4550-8E8D-CD7FDA06BD7F}" type="sibTrans" cxnId="{CB2B12D8-E104-49E4-9A08-0A9450BBA338}">
      <dgm:prSet/>
      <dgm:spPr/>
      <dgm:t>
        <a:bodyPr/>
        <a:lstStyle/>
        <a:p>
          <a:endParaRPr lang="en-US"/>
        </a:p>
      </dgm:t>
    </dgm:pt>
    <dgm:pt modelId="{2297F904-CC10-4D9C-8936-0DBAD695D0FF}" type="pres">
      <dgm:prSet presAssocID="{A6ACF180-B26E-4285-86EA-025FCB64B752}" presName="Root" presStyleCnt="0">
        <dgm:presLayoutVars>
          <dgm:dir/>
          <dgm:resizeHandles val="exact"/>
        </dgm:presLayoutVars>
      </dgm:prSet>
      <dgm:spPr/>
    </dgm:pt>
    <dgm:pt modelId="{DC585695-6696-4C22-A526-9BFB670D41A6}" type="pres">
      <dgm:prSet presAssocID="{1037DCA9-7236-47FC-8432-563DCB6F8998}" presName="Composite" presStyleCnt="0"/>
      <dgm:spPr/>
    </dgm:pt>
    <dgm:pt modelId="{96CA030D-5937-435A-8AD1-053A6B3E937E}" type="pres">
      <dgm:prSet presAssocID="{1037DCA9-7236-47FC-8432-563DCB6F8998}"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7104" r="6143" b="-6"/>
          <a:stretch/>
        </a:blipFill>
      </dgm:spPr>
      <dgm:extLst>
        <a:ext uri="{E40237B7-FDA0-4F09-8148-C483321AD2D9}">
          <dgm14:cNvPr xmlns:dgm14="http://schemas.microsoft.com/office/drawing/2010/diagram" id="0" name="" descr="Self driving autonomous cars on multi lane city street. The cars are using radar sensors, wireless communication, GPS and artificial intelligence to navigate and communicate with each other."/>
        </a:ext>
      </dgm:extLst>
    </dgm:pt>
    <dgm:pt modelId="{75FFE042-2669-443D-9DE0-5127CBF55A2D}" type="pres">
      <dgm:prSet presAssocID="{1037DCA9-7236-47FC-8432-563DCB6F8998}" presName="Subtitle" presStyleLbl="revTx" presStyleIdx="0" presStyleCnt="6">
        <dgm:presLayoutVars>
          <dgm:chMax val="0"/>
          <dgm:bulletEnabled/>
        </dgm:presLayoutVars>
      </dgm:prSet>
      <dgm:spPr/>
    </dgm:pt>
    <dgm:pt modelId="{D93CFE46-B4B6-4230-931F-BCEB16FFCC89}" type="pres">
      <dgm:prSet presAssocID="{1037DCA9-7236-47FC-8432-563DCB6F8998}" presName="Description" presStyleLbl="revTx" presStyleIdx="1" presStyleCnt="6">
        <dgm:presLayoutVars>
          <dgm:bulletEnabled/>
        </dgm:presLayoutVars>
      </dgm:prSet>
      <dgm:spPr/>
    </dgm:pt>
    <dgm:pt modelId="{995D85ED-1EB2-466D-B36E-4478C32E1BCA}" type="pres">
      <dgm:prSet presAssocID="{1515F250-DF6A-46F4-96CF-ADA1CCB287BC}" presName="sibTrans" presStyleLbl="sibTrans2D1" presStyleIdx="0" presStyleCnt="0"/>
      <dgm:spPr/>
    </dgm:pt>
    <dgm:pt modelId="{E09777F5-C439-4911-8F82-4E6C738636A7}" type="pres">
      <dgm:prSet presAssocID="{227D5072-4587-431F-A7E1-A1DC4893A97A}" presName="Composite" presStyleCnt="0"/>
      <dgm:spPr/>
    </dgm:pt>
    <dgm:pt modelId="{8C1D0570-50E4-4D45-9785-6A4391949901}" type="pres">
      <dgm:prSet presAssocID="{227D5072-4587-431F-A7E1-A1DC4893A97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5195" r="18553" b="-3"/>
          <a:stretch/>
        </a:blipFill>
      </dgm:spPr>
      <dgm:extLst>
        <a:ext uri="{E40237B7-FDA0-4F09-8148-C483321AD2D9}">
          <dgm14:cNvPr xmlns:dgm14="http://schemas.microsoft.com/office/drawing/2010/diagram" id="0" name="" descr="Driverless self drive autopilot vehicle"/>
        </a:ext>
      </dgm:extLst>
    </dgm:pt>
    <dgm:pt modelId="{FC9C9E3D-5181-479C-8F33-538419DED505}" type="pres">
      <dgm:prSet presAssocID="{227D5072-4587-431F-A7E1-A1DC4893A97A}" presName="Subtitle" presStyleLbl="revTx" presStyleIdx="2" presStyleCnt="6">
        <dgm:presLayoutVars>
          <dgm:chMax val="0"/>
          <dgm:bulletEnabled/>
        </dgm:presLayoutVars>
      </dgm:prSet>
      <dgm:spPr/>
    </dgm:pt>
    <dgm:pt modelId="{A0896555-23D0-435E-93BE-77834A1E03CB}" type="pres">
      <dgm:prSet presAssocID="{227D5072-4587-431F-A7E1-A1DC4893A97A}" presName="Description" presStyleLbl="revTx" presStyleIdx="3" presStyleCnt="6">
        <dgm:presLayoutVars>
          <dgm:bulletEnabled/>
        </dgm:presLayoutVars>
      </dgm:prSet>
      <dgm:spPr/>
    </dgm:pt>
    <dgm:pt modelId="{297029EF-CCAB-481D-8D35-3BB36FC04FB8}" type="pres">
      <dgm:prSet presAssocID="{F6CD9B95-D457-4D83-B9B2-06027EEEFC74}" presName="sibTrans" presStyleLbl="sibTrans2D1" presStyleIdx="0" presStyleCnt="0"/>
      <dgm:spPr/>
    </dgm:pt>
    <dgm:pt modelId="{AC6299D2-68EA-44D8-9092-F3EEDDF00E4D}" type="pres">
      <dgm:prSet presAssocID="{5DD31F72-68BE-4A39-9AF8-B01A1E1F0F50}" presName="Composite" presStyleCnt="0"/>
      <dgm:spPr/>
    </dgm:pt>
    <dgm:pt modelId="{2F830F2C-C36C-4A8D-A31E-801BBC649B20}" type="pres">
      <dgm:prSet presAssocID="{5DD31F72-68BE-4A39-9AF8-B01A1E1F0F50}"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1507" r="28495" b="4"/>
          <a:stretch/>
        </a:blipFill>
      </dgm:spPr>
      <dgm:extLst>
        <a:ext uri="{E40237B7-FDA0-4F09-8148-C483321AD2D9}">
          <dgm14:cNvPr xmlns:dgm14="http://schemas.microsoft.com/office/drawing/2010/diagram" id="0" name="" descr="Illustration of programming code"/>
        </a:ext>
      </dgm:extLst>
    </dgm:pt>
    <dgm:pt modelId="{5DC3A318-A3DF-4BF0-BFB8-8CC2F6D836C1}" type="pres">
      <dgm:prSet presAssocID="{5DD31F72-68BE-4A39-9AF8-B01A1E1F0F50}" presName="Subtitle" presStyleLbl="revTx" presStyleIdx="4" presStyleCnt="6">
        <dgm:presLayoutVars>
          <dgm:chMax val="0"/>
          <dgm:bulletEnabled/>
        </dgm:presLayoutVars>
      </dgm:prSet>
      <dgm:spPr/>
    </dgm:pt>
    <dgm:pt modelId="{2636A605-47D3-48D3-911D-DC7194CBBCDF}" type="pres">
      <dgm:prSet presAssocID="{5DD31F72-68BE-4A39-9AF8-B01A1E1F0F50}" presName="Description" presStyleLbl="revTx" presStyleIdx="5" presStyleCnt="6">
        <dgm:presLayoutVars>
          <dgm:bulletEnabled/>
        </dgm:presLayoutVars>
      </dgm:prSet>
      <dgm:spPr/>
    </dgm:pt>
  </dgm:ptLst>
  <dgm:cxnLst>
    <dgm:cxn modelId="{6DD4A234-1CF0-4834-870B-05ECBA6A7AFD}" type="presOf" srcId="{227D5072-4587-431F-A7E1-A1DC4893A97A}" destId="{FC9C9E3D-5181-479C-8F33-538419DED505}" srcOrd="0" destOrd="0" presId="urn:microsoft.com/office/officeart/2024/3/layout/verticalVisualTextBlock1"/>
    <dgm:cxn modelId="{6E9BE563-36CA-48B1-AD21-4B9FF21E44B4}" type="presOf" srcId="{5DD31F72-68BE-4A39-9AF8-B01A1E1F0F50}" destId="{5DC3A318-A3DF-4BF0-BFB8-8CC2F6D836C1}" srcOrd="0" destOrd="0" presId="urn:microsoft.com/office/officeart/2024/3/layout/verticalVisualTextBlock1"/>
    <dgm:cxn modelId="{F87D2B6D-B65C-4FB5-ACEA-CD5CC66B00BA}" type="presOf" srcId="{A6ACF180-B26E-4285-86EA-025FCB64B752}" destId="{2297F904-CC10-4D9C-8936-0DBAD695D0FF}" srcOrd="0" destOrd="0" presId="urn:microsoft.com/office/officeart/2024/3/layout/verticalVisualTextBlock1"/>
    <dgm:cxn modelId="{EB7C2B74-9400-48AE-BE8C-C5BC1D94649C}" type="presOf" srcId="{F6CD9B95-D457-4D83-B9B2-06027EEEFC74}" destId="{297029EF-CCAB-481D-8D35-3BB36FC04FB8}" srcOrd="0" destOrd="0" presId="urn:microsoft.com/office/officeart/2024/3/layout/verticalVisualTextBlock1"/>
    <dgm:cxn modelId="{BAFDBE5A-0D4F-4286-BB31-1FBAC84955C0}" type="presOf" srcId="{543B62DE-BCCF-4A46-A706-6742ACD9224E}" destId="{2636A605-47D3-48D3-911D-DC7194CBBCDF}" srcOrd="0" destOrd="0" presId="urn:microsoft.com/office/officeart/2024/3/layout/verticalVisualTextBlock1"/>
    <dgm:cxn modelId="{0D494C7B-01B2-4286-AD1D-A53915223F16}" srcId="{A6ACF180-B26E-4285-86EA-025FCB64B752}" destId="{5DD31F72-68BE-4A39-9AF8-B01A1E1F0F50}" srcOrd="2" destOrd="0" parTransId="{9A490FFA-F0E2-4713-843F-6E8C5AA1A9AB}" sibTransId="{3232972A-0B00-4525-82C6-FC1600C156AD}"/>
    <dgm:cxn modelId="{D9F9CF92-741C-44DD-9D25-18670F647C7B}" type="presOf" srcId="{1037DCA9-7236-47FC-8432-563DCB6F8998}" destId="{75FFE042-2669-443D-9DE0-5127CBF55A2D}" srcOrd="0" destOrd="0" presId="urn:microsoft.com/office/officeart/2024/3/layout/verticalVisualTextBlock1"/>
    <dgm:cxn modelId="{29459CBE-E423-49F3-ABE6-77224CBAE8F1}" type="presOf" srcId="{1515F250-DF6A-46F4-96CF-ADA1CCB287BC}" destId="{995D85ED-1EB2-466D-B36E-4478C32E1BCA}" srcOrd="0" destOrd="0" presId="urn:microsoft.com/office/officeart/2024/3/layout/verticalVisualTextBlock1"/>
    <dgm:cxn modelId="{93F9F0C4-7A5A-4134-BF5D-F705C8413EDE}" srcId="{227D5072-4587-431F-A7E1-A1DC4893A97A}" destId="{AFDB7B8A-D165-44E8-BCC8-5880424A1BA5}" srcOrd="0" destOrd="0" parTransId="{82BA0BDD-64CC-4158-BCD0-60B4886B0124}" sibTransId="{F9F6C4B6-B2C9-4F79-A21E-13106C84C6CF}"/>
    <dgm:cxn modelId="{6FF189C7-FDFB-4F59-A066-4A680115B554}" type="presOf" srcId="{3E139AF6-4C03-489C-A288-CD694966ED23}" destId="{D93CFE46-B4B6-4230-931F-BCEB16FFCC89}" srcOrd="0" destOrd="0" presId="urn:microsoft.com/office/officeart/2024/3/layout/verticalVisualTextBlock1"/>
    <dgm:cxn modelId="{EA99E0D1-04D0-4EB4-8198-B0C7F8110378}" srcId="{A6ACF180-B26E-4285-86EA-025FCB64B752}" destId="{227D5072-4587-431F-A7E1-A1DC4893A97A}" srcOrd="1" destOrd="0" parTransId="{4B145D97-42AE-49B3-8453-0D2DE743CF83}" sibTransId="{F6CD9B95-D457-4D83-B9B2-06027EEEFC74}"/>
    <dgm:cxn modelId="{C96CC3D2-A489-48F1-8DF7-B2512FBA09BD}" type="presOf" srcId="{AFDB7B8A-D165-44E8-BCC8-5880424A1BA5}" destId="{A0896555-23D0-435E-93BE-77834A1E03CB}" srcOrd="0" destOrd="0" presId="urn:microsoft.com/office/officeart/2024/3/layout/verticalVisualTextBlock1"/>
    <dgm:cxn modelId="{CB2B12D8-E104-49E4-9A08-0A9450BBA338}" srcId="{5DD31F72-68BE-4A39-9AF8-B01A1E1F0F50}" destId="{543B62DE-BCCF-4A46-A706-6742ACD9224E}" srcOrd="0" destOrd="0" parTransId="{0835D7BF-9F4D-4962-B101-B9D3663FD32C}" sibTransId="{C77B8479-60F3-4550-8E8D-CD7FDA06BD7F}"/>
    <dgm:cxn modelId="{EEAA09E5-5253-4995-9EFC-3E940BCF9105}" srcId="{1037DCA9-7236-47FC-8432-563DCB6F8998}" destId="{3E139AF6-4C03-489C-A288-CD694966ED23}" srcOrd="0" destOrd="0" parTransId="{78F88130-EC52-4A74-B7D3-8A71B96E1A28}" sibTransId="{F1F6A0E2-6511-40D1-83FA-E0E631A4ED09}"/>
    <dgm:cxn modelId="{772212F9-7468-4A58-92AA-138E0C3988A3}" srcId="{A6ACF180-B26E-4285-86EA-025FCB64B752}" destId="{1037DCA9-7236-47FC-8432-563DCB6F8998}" srcOrd="0" destOrd="0" parTransId="{66C6B40E-D09C-44E3-9B30-06C87789ADB2}" sibTransId="{1515F250-DF6A-46F4-96CF-ADA1CCB287BC}"/>
    <dgm:cxn modelId="{A9F0C53C-DDD2-4BDE-BED2-C307706A6174}" type="presParOf" srcId="{2297F904-CC10-4D9C-8936-0DBAD695D0FF}" destId="{DC585695-6696-4C22-A526-9BFB670D41A6}" srcOrd="0" destOrd="0" presId="urn:microsoft.com/office/officeart/2024/3/layout/verticalVisualTextBlock1"/>
    <dgm:cxn modelId="{2BE69265-CC53-4464-8F39-B82C4208C8E3}" type="presParOf" srcId="{DC585695-6696-4C22-A526-9BFB670D41A6}" destId="{96CA030D-5937-435A-8AD1-053A6B3E937E}" srcOrd="0" destOrd="0" presId="urn:microsoft.com/office/officeart/2024/3/layout/verticalVisualTextBlock1"/>
    <dgm:cxn modelId="{E5393351-63C3-4608-B049-A83DE3BE4A03}" type="presParOf" srcId="{DC585695-6696-4C22-A526-9BFB670D41A6}" destId="{75FFE042-2669-443D-9DE0-5127CBF55A2D}" srcOrd="1" destOrd="0" presId="urn:microsoft.com/office/officeart/2024/3/layout/verticalVisualTextBlock1"/>
    <dgm:cxn modelId="{968E4D85-1831-4190-BDB8-6C171EF2632D}" type="presParOf" srcId="{DC585695-6696-4C22-A526-9BFB670D41A6}" destId="{D93CFE46-B4B6-4230-931F-BCEB16FFCC89}" srcOrd="2" destOrd="0" presId="urn:microsoft.com/office/officeart/2024/3/layout/verticalVisualTextBlock1"/>
    <dgm:cxn modelId="{E98D053C-C544-4819-8069-B82AC3356702}" type="presParOf" srcId="{2297F904-CC10-4D9C-8936-0DBAD695D0FF}" destId="{995D85ED-1EB2-466D-B36E-4478C32E1BCA}" srcOrd="1" destOrd="0" presId="urn:microsoft.com/office/officeart/2024/3/layout/verticalVisualTextBlock1"/>
    <dgm:cxn modelId="{60E0C198-6FBA-4336-8159-1608D3F6CCF5}" type="presParOf" srcId="{2297F904-CC10-4D9C-8936-0DBAD695D0FF}" destId="{E09777F5-C439-4911-8F82-4E6C738636A7}" srcOrd="2" destOrd="0" presId="urn:microsoft.com/office/officeart/2024/3/layout/verticalVisualTextBlock1"/>
    <dgm:cxn modelId="{180D9620-F360-4967-B3C4-88A6B8F0BB1F}" type="presParOf" srcId="{E09777F5-C439-4911-8F82-4E6C738636A7}" destId="{8C1D0570-50E4-4D45-9785-6A4391949901}" srcOrd="0" destOrd="0" presId="urn:microsoft.com/office/officeart/2024/3/layout/verticalVisualTextBlock1"/>
    <dgm:cxn modelId="{4B6B25BE-58D7-4812-845B-4F86C9B98EED}" type="presParOf" srcId="{E09777F5-C439-4911-8F82-4E6C738636A7}" destId="{FC9C9E3D-5181-479C-8F33-538419DED505}" srcOrd="1" destOrd="0" presId="urn:microsoft.com/office/officeart/2024/3/layout/verticalVisualTextBlock1"/>
    <dgm:cxn modelId="{9E9B1F36-6896-4919-BCC6-D264D9B09715}" type="presParOf" srcId="{E09777F5-C439-4911-8F82-4E6C738636A7}" destId="{A0896555-23D0-435E-93BE-77834A1E03CB}" srcOrd="2" destOrd="0" presId="urn:microsoft.com/office/officeart/2024/3/layout/verticalVisualTextBlock1"/>
    <dgm:cxn modelId="{CC861E84-F507-412C-BB6F-DCCA612C918E}" type="presParOf" srcId="{2297F904-CC10-4D9C-8936-0DBAD695D0FF}" destId="{297029EF-CCAB-481D-8D35-3BB36FC04FB8}" srcOrd="3" destOrd="0" presId="urn:microsoft.com/office/officeart/2024/3/layout/verticalVisualTextBlock1"/>
    <dgm:cxn modelId="{45ABF676-BD55-40ED-A424-AE1D62A20CCB}" type="presParOf" srcId="{2297F904-CC10-4D9C-8936-0DBAD695D0FF}" destId="{AC6299D2-68EA-44D8-9092-F3EEDDF00E4D}" srcOrd="4" destOrd="0" presId="urn:microsoft.com/office/officeart/2024/3/layout/verticalVisualTextBlock1"/>
    <dgm:cxn modelId="{CB4F438D-C2D9-46AA-A14A-949FE2CE2572}" type="presParOf" srcId="{AC6299D2-68EA-44D8-9092-F3EEDDF00E4D}" destId="{2F830F2C-C36C-4A8D-A31E-801BBC649B20}" srcOrd="0" destOrd="0" presId="urn:microsoft.com/office/officeart/2024/3/layout/verticalVisualTextBlock1"/>
    <dgm:cxn modelId="{99B85AB4-C7BB-467E-B090-93FBD14AB118}" type="presParOf" srcId="{AC6299D2-68EA-44D8-9092-F3EEDDF00E4D}" destId="{5DC3A318-A3DF-4BF0-BFB8-8CC2F6D836C1}" srcOrd="1" destOrd="0" presId="urn:microsoft.com/office/officeart/2024/3/layout/verticalVisualTextBlock1"/>
    <dgm:cxn modelId="{5842978D-3A66-4A1F-987D-FFC15ACE6449}" type="presParOf" srcId="{AC6299D2-68EA-44D8-9092-F3EEDDF00E4D}" destId="{2636A605-47D3-48D3-911D-DC7194CBBCDF}" srcOrd="2" destOrd="0" presId="urn:microsoft.com/office/officeart/2024/3/layout/verticalVisualTextBlock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CA030D-5937-435A-8AD1-053A6B3E937E}">
      <dsp:nvSpPr>
        <dsp:cNvPr id="0" name=""/>
        <dsp:cNvSpPr/>
      </dsp:nvSpPr>
      <dsp:spPr>
        <a:xfrm>
          <a:off x="0" y="0"/>
          <a:ext cx="1147798" cy="1147798"/>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7104" r="6143" b="-6"/>
          <a:stretch/>
        </a:blipFill>
        <a:ln>
          <a:noFill/>
        </a:ln>
        <a:effectLst/>
      </dsp:spPr>
      <dsp:style>
        <a:lnRef idx="0">
          <a:scrgbClr r="0" g="0" b="0"/>
        </a:lnRef>
        <a:fillRef idx="3">
          <a:scrgbClr r="0" g="0" b="0"/>
        </a:fillRef>
        <a:effectRef idx="2">
          <a:scrgbClr r="0" g="0" b="0"/>
        </a:effectRef>
        <a:fontRef idx="minor">
          <a:schemeClr val="lt1"/>
        </a:fontRef>
      </dsp:style>
    </dsp:sp>
    <dsp:sp modelId="{75FFE042-2669-443D-9DE0-5127CBF55A2D}">
      <dsp:nvSpPr>
        <dsp:cNvPr id="0" name=""/>
        <dsp:cNvSpPr/>
      </dsp:nvSpPr>
      <dsp:spPr>
        <a:xfrm>
          <a:off x="1327798" y="0"/>
          <a:ext cx="9870215" cy="354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IN" sz="1800" b="1" kern="1200" dirty="0">
              <a:solidFill>
                <a:prstClr val="black">
                  <a:hueOff val="0"/>
                  <a:satOff val="0"/>
                  <a:lumOff val="0"/>
                  <a:alphaOff val="0"/>
                </a:prstClr>
              </a:solidFill>
              <a:latin typeface="Grandview Display"/>
              <a:ea typeface="+mn-ea"/>
              <a:cs typeface="+mn-cs"/>
            </a:rPr>
            <a:t>Police Command </a:t>
          </a:r>
          <a:r>
            <a:rPr lang="en-IN" sz="1800" b="1" kern="1200" dirty="0" err="1">
              <a:solidFill>
                <a:prstClr val="black">
                  <a:hueOff val="0"/>
                  <a:satOff val="0"/>
                  <a:lumOff val="0"/>
                  <a:alphaOff val="0"/>
                </a:prstClr>
              </a:solidFill>
              <a:latin typeface="Grandview Display"/>
              <a:ea typeface="+mn-ea"/>
              <a:cs typeface="+mn-cs"/>
            </a:rPr>
            <a:t>Center</a:t>
          </a:r>
          <a:endParaRPr lang="en-US" sz="1800" b="1" kern="1200" dirty="0">
            <a:solidFill>
              <a:prstClr val="black">
                <a:hueOff val="0"/>
                <a:satOff val="0"/>
                <a:lumOff val="0"/>
                <a:alphaOff val="0"/>
              </a:prstClr>
            </a:solidFill>
            <a:latin typeface="Grandview Display"/>
            <a:ea typeface="+mn-ea"/>
            <a:cs typeface="+mn-cs"/>
          </a:endParaRPr>
        </a:p>
      </dsp:txBody>
      <dsp:txXfrm>
        <a:off x="1327798" y="0"/>
        <a:ext cx="9870215" cy="354361"/>
      </dsp:txXfrm>
    </dsp:sp>
    <dsp:sp modelId="{D93CFE46-B4B6-4230-931F-BCEB16FFCC89}">
      <dsp:nvSpPr>
        <dsp:cNvPr id="0" name=""/>
        <dsp:cNvSpPr/>
      </dsp:nvSpPr>
      <dsp:spPr>
        <a:xfrm>
          <a:off x="1327798" y="354361"/>
          <a:ext cx="9870215" cy="793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Uses a </a:t>
          </a:r>
          <a:r>
            <a:rPr lang="en-US" sz="1400" kern="1200" dirty="0" err="1"/>
            <a:t>CatBoost</a:t>
          </a:r>
          <a:r>
            <a:rPr lang="en-US" sz="1400" kern="1200" dirty="0"/>
            <a:t> ML model to instantly triage camera-flagged violations, enabling rapid response in critical zones.</a:t>
          </a:r>
        </a:p>
      </dsp:txBody>
      <dsp:txXfrm>
        <a:off x="1327798" y="354361"/>
        <a:ext cx="9870215" cy="793437"/>
      </dsp:txXfrm>
    </dsp:sp>
    <dsp:sp modelId="{8C1D0570-50E4-4D45-9785-6A4391949901}">
      <dsp:nvSpPr>
        <dsp:cNvPr id="0" name=""/>
        <dsp:cNvSpPr/>
      </dsp:nvSpPr>
      <dsp:spPr>
        <a:xfrm>
          <a:off x="0" y="1239622"/>
          <a:ext cx="1147798" cy="1147798"/>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5195" r="18553" b="-3"/>
          <a:stretch/>
        </a:blipFill>
        <a:ln>
          <a:noFill/>
        </a:ln>
        <a:effectLst/>
      </dsp:spPr>
      <dsp:style>
        <a:lnRef idx="0">
          <a:scrgbClr r="0" g="0" b="0"/>
        </a:lnRef>
        <a:fillRef idx="3">
          <a:scrgbClr r="0" g="0" b="0"/>
        </a:fillRef>
        <a:effectRef idx="2">
          <a:scrgbClr r="0" g="0" b="0"/>
        </a:effectRef>
        <a:fontRef idx="minor">
          <a:schemeClr val="lt1"/>
        </a:fontRef>
      </dsp:style>
    </dsp:sp>
    <dsp:sp modelId="{FC9C9E3D-5181-479C-8F33-538419DED505}">
      <dsp:nvSpPr>
        <dsp:cNvPr id="0" name=""/>
        <dsp:cNvSpPr/>
      </dsp:nvSpPr>
      <dsp:spPr>
        <a:xfrm>
          <a:off x="1327798" y="1239622"/>
          <a:ext cx="9870215" cy="354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Logistics Intelligence Engine</a:t>
          </a:r>
        </a:p>
      </dsp:txBody>
      <dsp:txXfrm>
        <a:off x="1327798" y="1239622"/>
        <a:ext cx="9870215" cy="354361"/>
      </dsp:txXfrm>
    </dsp:sp>
    <dsp:sp modelId="{A0896555-23D0-435E-93BE-77834A1E03CB}">
      <dsp:nvSpPr>
        <dsp:cNvPr id="0" name=""/>
        <dsp:cNvSpPr/>
      </dsp:nvSpPr>
      <dsp:spPr>
        <a:xfrm>
          <a:off x="1327798" y="1593984"/>
          <a:ext cx="9870215" cy="793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Applies predictive analytics and spatial clustering to transform congestion and blockages into real-time risk matrices.</a:t>
          </a:r>
        </a:p>
      </dsp:txBody>
      <dsp:txXfrm>
        <a:off x="1327798" y="1593984"/>
        <a:ext cx="9870215" cy="793437"/>
      </dsp:txXfrm>
    </dsp:sp>
    <dsp:sp modelId="{2F830F2C-C36C-4A8D-A31E-801BBC649B20}">
      <dsp:nvSpPr>
        <dsp:cNvPr id="0" name=""/>
        <dsp:cNvSpPr/>
      </dsp:nvSpPr>
      <dsp:spPr>
        <a:xfrm>
          <a:off x="0" y="2479245"/>
          <a:ext cx="1147798" cy="1147798"/>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1507" r="28495" b="4"/>
          <a:stretch/>
        </a:blipFill>
        <a:ln>
          <a:noFill/>
        </a:ln>
        <a:effectLst/>
      </dsp:spPr>
      <dsp:style>
        <a:lnRef idx="0">
          <a:scrgbClr r="0" g="0" b="0"/>
        </a:lnRef>
        <a:fillRef idx="3">
          <a:scrgbClr r="0" g="0" b="0"/>
        </a:fillRef>
        <a:effectRef idx="2">
          <a:scrgbClr r="0" g="0" b="0"/>
        </a:effectRef>
        <a:fontRef idx="minor">
          <a:schemeClr val="lt1"/>
        </a:fontRef>
      </dsp:style>
    </dsp:sp>
    <dsp:sp modelId="{5DC3A318-A3DF-4BF0-BFB8-8CC2F6D836C1}">
      <dsp:nvSpPr>
        <dsp:cNvPr id="0" name=""/>
        <dsp:cNvSpPr/>
      </dsp:nvSpPr>
      <dsp:spPr>
        <a:xfrm>
          <a:off x="1327798" y="2479245"/>
          <a:ext cx="9870215" cy="354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Integrated Dual-Engine Architecture</a:t>
          </a:r>
        </a:p>
      </dsp:txBody>
      <dsp:txXfrm>
        <a:off x="1327798" y="2479245"/>
        <a:ext cx="9870215" cy="354361"/>
      </dsp:txXfrm>
    </dsp:sp>
    <dsp:sp modelId="{2636A605-47D3-48D3-911D-DC7194CBBCDF}">
      <dsp:nvSpPr>
        <dsp:cNvPr id="0" name=""/>
        <dsp:cNvSpPr/>
      </dsp:nvSpPr>
      <dsp:spPr>
        <a:xfrm>
          <a:off x="1327798" y="2833606"/>
          <a:ext cx="9870215" cy="793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Modular, scalable design converts reactive data into proactive intelligence benefiting both municipal and commercial domains.</a:t>
          </a:r>
        </a:p>
      </dsp:txBody>
      <dsp:txXfrm>
        <a:off x="1327798" y="2833606"/>
        <a:ext cx="9870215" cy="793437"/>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6/20/2026</a:t>
            </a:fld>
            <a:endParaRPr lang="en-US" dirty="0"/>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456761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6/20/2026</a:t>
            </a:fld>
            <a:endParaRPr lang="en-US" dirty="0"/>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2036242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6/20/2026</a:t>
            </a:fld>
            <a:endParaRPr lang="en-US" dirty="0"/>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dirty="0"/>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092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6/20/2026</a:t>
            </a:fld>
            <a:endParaRPr lang="en-US" dirty="0"/>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736318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6/20/2026</a:t>
            </a:fld>
            <a:endParaRPr lang="en-US" dirty="0"/>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2662057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6/20/2026</a:t>
            </a:fld>
            <a:endParaRPr lang="en-US" dirty="0"/>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08883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6/20/2026</a:t>
            </a:fld>
            <a:endParaRPr lang="en-US" dirty="0"/>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3917729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6/20/2026</a:t>
            </a:fld>
            <a:endParaRPr lang="en-US" dirty="0"/>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3544091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6/20/2026</a:t>
            </a:fld>
            <a:endParaRPr lang="en-US" dirty="0"/>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1764778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6/20/2026</a:t>
            </a:fld>
            <a:endParaRPr lang="en-US" dirty="0"/>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3784273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6/20/2026</a:t>
            </a:fld>
            <a:endParaRPr lang="en-US" dirty="0"/>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dirty="0"/>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9844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6/20/2026</a:t>
            </a:fld>
            <a:endParaRPr lang="en-US" dirty="0"/>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dirty="0"/>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2653813"/>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347F79-AA65-922B-8C71-0DB25EEDF68A}"/>
              </a:ext>
            </a:extLst>
          </p:cNvPr>
          <p:cNvSpPr>
            <a:spLocks noGrp="1"/>
          </p:cNvSpPr>
          <p:nvPr>
            <p:ph type="ctrTitle"/>
          </p:nvPr>
        </p:nvSpPr>
        <p:spPr>
          <a:xfrm>
            <a:off x="7537528" y="1032764"/>
            <a:ext cx="4308672" cy="3224045"/>
          </a:xfrm>
        </p:spPr>
        <p:txBody>
          <a:bodyPr anchor="b">
            <a:normAutofit/>
          </a:bodyPr>
          <a:lstStyle/>
          <a:p>
            <a:r>
              <a:rPr lang="en-IN" sz="6000" dirty="0">
                <a:latin typeface="Sitka Small Semibold" pitchFamily="2" charset="0"/>
              </a:rPr>
              <a:t>Ondu Nimisha AI</a:t>
            </a:r>
            <a:endParaRPr lang="en-IN" sz="5800" dirty="0">
              <a:latin typeface="Sitka Small Semibold" pitchFamily="2" charset="0"/>
            </a:endParaRPr>
          </a:p>
        </p:txBody>
      </p:sp>
      <p:sp>
        <p:nvSpPr>
          <p:cNvPr id="3" name="Subtitle 2">
            <a:extLst>
              <a:ext uri="{FF2B5EF4-FFF2-40B4-BE49-F238E27FC236}">
                <a16:creationId xmlns:a16="http://schemas.microsoft.com/office/drawing/2014/main" id="{819AAD3F-76A3-EC3B-E479-B6F368635801}"/>
              </a:ext>
            </a:extLst>
          </p:cNvPr>
          <p:cNvSpPr>
            <a:spLocks noGrp="1"/>
          </p:cNvSpPr>
          <p:nvPr>
            <p:ph type="subTitle" idx="1"/>
          </p:nvPr>
        </p:nvSpPr>
        <p:spPr>
          <a:xfrm>
            <a:off x="7535756" y="5046281"/>
            <a:ext cx="4308672" cy="1172408"/>
          </a:xfrm>
        </p:spPr>
        <p:txBody>
          <a:bodyPr anchor="t">
            <a:normAutofit fontScale="25000" lnSpcReduction="20000"/>
          </a:bodyPr>
          <a:lstStyle/>
          <a:p>
            <a:pPr marL="285750" indent="-285750">
              <a:buFont typeface="Arial" panose="020B0604020202020204" pitchFamily="34" charset="0"/>
              <a:buChar char="•"/>
            </a:pPr>
            <a:r>
              <a:rPr lang="en-IN" sz="6000" dirty="0">
                <a:latin typeface="Sitka Display Semibold" pitchFamily="2" charset="0"/>
                <a:ea typeface="+mj-ea"/>
                <a:cs typeface="+mj-cs"/>
              </a:rPr>
              <a:t>"What is the purpose of existence? </a:t>
            </a:r>
          </a:p>
          <a:p>
            <a:pPr marL="285750" indent="-285750">
              <a:buFont typeface="Arial" panose="020B0604020202020204" pitchFamily="34" charset="0"/>
              <a:buChar char="•"/>
            </a:pPr>
            <a:r>
              <a:rPr lang="en-IN" sz="6000" dirty="0">
                <a:latin typeface="Sitka Display Semibold" pitchFamily="2" charset="0"/>
                <a:ea typeface="+mj-ea"/>
                <a:cs typeface="+mj-cs"/>
              </a:rPr>
              <a:t>Is it to just stay in traffic?"</a:t>
            </a:r>
          </a:p>
        </p:txBody>
      </p:sp>
      <p:pic>
        <p:nvPicPr>
          <p:cNvPr id="4" name="Picture 3" descr="Real-time traffic solutions for Bengaluru">
            <a:extLst>
              <a:ext uri="{FF2B5EF4-FFF2-40B4-BE49-F238E27FC236}">
                <a16:creationId xmlns:a16="http://schemas.microsoft.com/office/drawing/2014/main" id="{00E08E4B-C9F6-FCA9-304B-E3C00349BB42}"/>
              </a:ext>
            </a:extLst>
          </p:cNvPr>
          <p:cNvPicPr>
            <a:picLocks noChangeAspect="1"/>
          </p:cNvPicPr>
          <p:nvPr/>
        </p:nvPicPr>
        <p:blipFill>
          <a:blip r:embed="rId2"/>
          <a:srcRect l="4561" r="19639"/>
          <a:stretch>
            <a:fillRect/>
          </a:stretch>
        </p:blipFill>
        <p:spPr>
          <a:xfrm>
            <a:off x="20" y="10"/>
            <a:ext cx="6931132" cy="6857990"/>
          </a:xfrm>
          <a:prstGeom prst="rect">
            <a:avLst/>
          </a:prstGeom>
        </p:spPr>
      </p:pic>
      <p:cxnSp>
        <p:nvCxnSpPr>
          <p:cNvPr id="11" name="Straight Connector 10">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6" name="Picture 5" descr="The image depicts a congested urban traffic scene, featuring a clock symbolizing time, with a tagline questioning the purpose of existence amidst traffic, and promoting the Road Intelligence &amp; Smart Enforcement (RISE) technology.&#10;&#10;AI-generated content may be incorrect.">
            <a:extLst>
              <a:ext uri="{FF2B5EF4-FFF2-40B4-BE49-F238E27FC236}">
                <a16:creationId xmlns:a16="http://schemas.microsoft.com/office/drawing/2014/main" id="{6F626714-5577-9A69-485B-4E8F0B7ED6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34205032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319BE4-A5C7-5BA8-21DF-0DD5DB1115AA}"/>
              </a:ext>
            </a:extLst>
          </p:cNvPr>
          <p:cNvSpPr>
            <a:spLocks noGrp="1"/>
          </p:cNvSpPr>
          <p:nvPr>
            <p:ph type="title"/>
          </p:nvPr>
        </p:nvSpPr>
        <p:spPr>
          <a:xfrm>
            <a:off x="640080" y="1371600"/>
            <a:ext cx="5852160" cy="1097280"/>
          </a:xfrm>
        </p:spPr>
        <p:txBody>
          <a:bodyPr anchor="t">
            <a:normAutofit/>
          </a:bodyPr>
          <a:lstStyle/>
          <a:p>
            <a:pPr>
              <a:lnSpc>
                <a:spcPct val="90000"/>
              </a:lnSpc>
            </a:pPr>
            <a:r>
              <a:rPr lang="en-IN" sz="3400" dirty="0">
                <a:latin typeface="Sitka Small Semibold" pitchFamily="2" charset="0"/>
              </a:rPr>
              <a:t>How Human Approval Distorts Traffic Flow?</a:t>
            </a:r>
          </a:p>
        </p:txBody>
      </p:sp>
      <p:cxnSp>
        <p:nvCxnSpPr>
          <p:cNvPr id="26" name="Straight Connector 25">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3389B3A-BA6C-B8C4-86CD-03BAC65314BB}"/>
              </a:ext>
            </a:extLst>
          </p:cNvPr>
          <p:cNvSpPr>
            <a:spLocks noGrp="1"/>
          </p:cNvSpPr>
          <p:nvPr>
            <p:ph idx="1"/>
          </p:nvPr>
        </p:nvSpPr>
        <p:spPr>
          <a:xfrm>
            <a:off x="640079" y="2633236"/>
            <a:ext cx="6413863" cy="3878096"/>
          </a:xfrm>
        </p:spPr>
        <p:txBody>
          <a:bodyPr>
            <a:normAutofit fontScale="92500" lnSpcReduction="10000"/>
          </a:bodyPr>
          <a:lstStyle/>
          <a:p>
            <a:pPr>
              <a:lnSpc>
                <a:spcPct val="110000"/>
              </a:lnSpc>
            </a:pPr>
            <a:r>
              <a:rPr lang="en-IN" sz="1600" dirty="0">
                <a:latin typeface="Sitka Display Semibold" pitchFamily="2" charset="0"/>
              </a:rPr>
              <a:t>The Scaling Failure: </a:t>
            </a:r>
            <a:r>
              <a:rPr lang="en-IN" sz="1600" dirty="0">
                <a:latin typeface="Sitka Display" pitchFamily="2" charset="0"/>
              </a:rPr>
              <a:t>Human processing capacity is static (O(1) scaling), whereas traffic congestion and camera alerts scale exponentially (O(N)) during rush hours. This causes queue backlogs to swell precisely when rapid enforcement is needed most.</a:t>
            </a:r>
          </a:p>
          <a:p>
            <a:pPr>
              <a:lnSpc>
                <a:spcPct val="110000"/>
              </a:lnSpc>
            </a:pPr>
            <a:r>
              <a:rPr lang="en-IN" sz="1600" dirty="0">
                <a:latin typeface="Sitka Display Semibold" pitchFamily="2" charset="0"/>
              </a:rPr>
              <a:t>The Lost "Golden Hour" of Clearing: </a:t>
            </a:r>
            <a:r>
              <a:rPr lang="en-IN" sz="1600" dirty="0">
                <a:latin typeface="Sitka Display" pitchFamily="2" charset="0"/>
              </a:rPr>
              <a:t>If a vehicle is double-parked or broken down on a major arterial artery (like Outer Ring Road), every minute it sits there causes an upstream traffic wave that takes hours to dissipate. If the human triage delay is 2.5 hours, the roadblock remains unaddressed during the entire peak window, turning a localized incident into a systemic city-wide gridlock.</a:t>
            </a:r>
          </a:p>
          <a:p>
            <a:pPr>
              <a:lnSpc>
                <a:spcPct val="110000"/>
              </a:lnSpc>
            </a:pPr>
            <a:r>
              <a:rPr lang="en-IN" sz="1600" dirty="0">
                <a:latin typeface="Sitka Display Semibold" pitchFamily="2" charset="0"/>
              </a:rPr>
              <a:t>Delayed Deterrent Feedback: </a:t>
            </a:r>
            <a:r>
              <a:rPr lang="en-IN" sz="1600" dirty="0">
                <a:latin typeface="Sitka Display" pitchFamily="2" charset="0"/>
              </a:rPr>
              <a:t>Behavioural science proves that deterrence works best when the feedback loop is immediate. When an offender receives an automated notification within 60 seconds (“RISE AI"), they move their vehicle or change behaviour. If the ticket takes days to process, the illegal parking behaviour continues unchecked for the rest of the week.</a:t>
            </a:r>
          </a:p>
          <a:p>
            <a:pPr>
              <a:lnSpc>
                <a:spcPct val="110000"/>
              </a:lnSpc>
            </a:pPr>
            <a:endParaRPr lang="en-IN" sz="1600" dirty="0"/>
          </a:p>
        </p:txBody>
      </p:sp>
      <p:pic>
        <p:nvPicPr>
          <p:cNvPr id="5" name="Picture 4" descr="traffic city">
            <a:extLst>
              <a:ext uri="{FF2B5EF4-FFF2-40B4-BE49-F238E27FC236}">
                <a16:creationId xmlns:a16="http://schemas.microsoft.com/office/drawing/2014/main" id="{3CF91548-0318-DA9B-860D-C086B79A84E2}"/>
              </a:ext>
            </a:extLst>
          </p:cNvPr>
          <p:cNvPicPr>
            <a:picLocks noChangeAspect="1"/>
          </p:cNvPicPr>
          <p:nvPr/>
        </p:nvPicPr>
        <p:blipFill>
          <a:blip r:embed="rId2"/>
          <a:srcRect l="26246" r="34004"/>
          <a:stretch>
            <a:fillRect/>
          </a:stretch>
        </p:blipFill>
        <p:spPr>
          <a:xfrm>
            <a:off x="7345680" y="10"/>
            <a:ext cx="4846320" cy="6857990"/>
          </a:xfrm>
          <a:prstGeom prst="rect">
            <a:avLst/>
          </a:prstGeom>
        </p:spPr>
      </p:pic>
    </p:spTree>
    <p:extLst>
      <p:ext uri="{BB962C8B-B14F-4D97-AF65-F5344CB8AC3E}">
        <p14:creationId xmlns:p14="http://schemas.microsoft.com/office/powerpoint/2010/main" val="182308616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3" dur="500"/>
                                        <p:tgtEl>
                                          <p:spTgt spid="3">
                                            <p:txEl>
                                              <p:pRg st="0" end="0"/>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7" dur="500"/>
                                        <p:tgtEl>
                                          <p:spTgt spid="3">
                                            <p:txEl>
                                              <p:pRg st="1" end="1"/>
                                            </p:txEl>
                                          </p:spTgt>
                                        </p:tgtEl>
                                      </p:cBhvr>
                                    </p:animEffect>
                                  </p:childTnLst>
                                </p:cTn>
                              </p:par>
                              <p:par>
                                <p:cTn id="18" presetID="1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1C51A-2146-802B-9919-9FDA60DE84BB}"/>
              </a:ext>
            </a:extLst>
          </p:cNvPr>
          <p:cNvSpPr>
            <a:spLocks noGrp="1"/>
          </p:cNvSpPr>
          <p:nvPr>
            <p:ph type="title"/>
          </p:nvPr>
        </p:nvSpPr>
        <p:spPr/>
        <p:txBody>
          <a:bodyPr/>
          <a:lstStyle/>
          <a:p>
            <a:pPr algn="ctr"/>
            <a:r>
              <a:rPr lang="en-IN" sz="3600" dirty="0">
                <a:latin typeface="Sitka Small Semibold" pitchFamily="2" charset="0"/>
              </a:rPr>
              <a:t>Human Capacity Bottleneck</a:t>
            </a:r>
          </a:p>
        </p:txBody>
      </p:sp>
      <p:pic>
        <p:nvPicPr>
          <p:cNvPr id="5" name="Content Placeholder 4" descr="The image displays a graph showing the variation in processing delay throughout the day, with the highest delay occurring around the 18th hour.&#10;&#10;AI-generated content may be incorrect.">
            <a:extLst>
              <a:ext uri="{FF2B5EF4-FFF2-40B4-BE49-F238E27FC236}">
                <a16:creationId xmlns:a16="http://schemas.microsoft.com/office/drawing/2014/main" id="{E57B7785-C0DC-120F-AD58-9F8BFF747CCF}"/>
              </a:ext>
            </a:extLst>
          </p:cNvPr>
          <p:cNvPicPr>
            <a:picLocks noGrp="1" noChangeAspect="1"/>
          </p:cNvPicPr>
          <p:nvPr>
            <p:ph idx="1"/>
          </p:nvPr>
        </p:nvPicPr>
        <p:blipFill>
          <a:blip r:embed="rId2"/>
          <a:stretch>
            <a:fillRect/>
          </a:stretch>
        </p:blipFill>
        <p:spPr>
          <a:xfrm>
            <a:off x="1689500" y="2298244"/>
            <a:ext cx="8813000" cy="4366400"/>
          </a:xfrm>
          <a:prstGeom prst="rect">
            <a:avLst/>
          </a:prstGeom>
        </p:spPr>
      </p:pic>
    </p:spTree>
    <p:extLst>
      <p:ext uri="{BB962C8B-B14F-4D97-AF65-F5344CB8AC3E}">
        <p14:creationId xmlns:p14="http://schemas.microsoft.com/office/powerpoint/2010/main" val="975667664"/>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C18C2-F67D-D1F1-4BD0-1B8BF906D973}"/>
              </a:ext>
            </a:extLst>
          </p:cNvPr>
          <p:cNvSpPr>
            <a:spLocks noGrp="1"/>
          </p:cNvSpPr>
          <p:nvPr>
            <p:ph type="title"/>
          </p:nvPr>
        </p:nvSpPr>
        <p:spPr/>
        <p:txBody>
          <a:bodyPr>
            <a:normAutofit fontScale="90000"/>
          </a:bodyPr>
          <a:lstStyle/>
          <a:p>
            <a:pPr algn="ctr"/>
            <a:r>
              <a:rPr lang="en-IN" sz="3600" dirty="0">
                <a:latin typeface="Sitka Small Semibold" pitchFamily="2" charset="0"/>
              </a:rPr>
              <a:t>Spatial Backlog Heatmap by Jurisdictional Zone (Horizontal Bar Chart)</a:t>
            </a:r>
          </a:p>
        </p:txBody>
      </p:sp>
      <p:pic>
        <p:nvPicPr>
          <p:cNvPr id="5" name="Content Placeholder 4" descr="The diagram illustrates the median processing delay (in hours) across various locations, including police stations and other areas, arranged in ascending order.&#10;&#10;AI-generated content may be incorrect.">
            <a:extLst>
              <a:ext uri="{FF2B5EF4-FFF2-40B4-BE49-F238E27FC236}">
                <a16:creationId xmlns:a16="http://schemas.microsoft.com/office/drawing/2014/main" id="{67AFC87A-CF73-F9F1-442F-700881868F5F}"/>
              </a:ext>
            </a:extLst>
          </p:cNvPr>
          <p:cNvPicPr>
            <a:picLocks noGrp="1" noChangeAspect="1"/>
          </p:cNvPicPr>
          <p:nvPr>
            <p:ph idx="1"/>
          </p:nvPr>
        </p:nvPicPr>
        <p:blipFill>
          <a:blip r:embed="rId2"/>
          <a:stretch>
            <a:fillRect/>
          </a:stretch>
        </p:blipFill>
        <p:spPr>
          <a:xfrm>
            <a:off x="1673405" y="2468881"/>
            <a:ext cx="8845190" cy="4389119"/>
          </a:xfrm>
          <a:prstGeom prst="rect">
            <a:avLst/>
          </a:prstGeom>
        </p:spPr>
      </p:pic>
    </p:spTree>
    <p:extLst>
      <p:ext uri="{BB962C8B-B14F-4D97-AF65-F5344CB8AC3E}">
        <p14:creationId xmlns:p14="http://schemas.microsoft.com/office/powerpoint/2010/main" val="33183022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4CFD2-0942-487F-8A8C-4F776F379C3B}"/>
              </a:ext>
            </a:extLst>
          </p:cNvPr>
          <p:cNvSpPr>
            <a:spLocks noGrp="1"/>
          </p:cNvSpPr>
          <p:nvPr>
            <p:ph type="title"/>
          </p:nvPr>
        </p:nvSpPr>
        <p:spPr>
          <a:xfrm>
            <a:off x="650535" y="1086466"/>
            <a:ext cx="10890929" cy="781664"/>
          </a:xfrm>
        </p:spPr>
        <p:txBody>
          <a:bodyPr>
            <a:normAutofit/>
          </a:bodyPr>
          <a:lstStyle/>
          <a:p>
            <a:pPr algn="ctr"/>
            <a:r>
              <a:rPr lang="en-IN" sz="3200" dirty="0">
                <a:latin typeface="Sitka Small Semibold" pitchFamily="2" charset="0"/>
              </a:rPr>
              <a:t>Supply Chain Risk Matrix</a:t>
            </a:r>
          </a:p>
        </p:txBody>
      </p:sp>
      <p:pic>
        <p:nvPicPr>
          <p:cNvPr id="5" name="Content Placeholder 4" descr="The image is a risk matrix visualizing the relationship between administrative triage and structural roadblocks in various cities, showing high roadblocks correlating with high average delays for heavy goods vehicles.&#10;&#10;AI-generated content may be incorrect.">
            <a:extLst>
              <a:ext uri="{FF2B5EF4-FFF2-40B4-BE49-F238E27FC236}">
                <a16:creationId xmlns:a16="http://schemas.microsoft.com/office/drawing/2014/main" id="{48257C66-49FB-FEA1-C141-3EE1FF1F8427}"/>
              </a:ext>
            </a:extLst>
          </p:cNvPr>
          <p:cNvPicPr>
            <a:picLocks noGrp="1" noChangeAspect="1"/>
          </p:cNvPicPr>
          <p:nvPr>
            <p:ph idx="1"/>
          </p:nvPr>
        </p:nvPicPr>
        <p:blipFill>
          <a:blip r:embed="rId2"/>
          <a:stretch>
            <a:fillRect/>
          </a:stretch>
        </p:blipFill>
        <p:spPr>
          <a:xfrm>
            <a:off x="1761345" y="1868130"/>
            <a:ext cx="8669307" cy="4718500"/>
          </a:xfrm>
          <a:prstGeom prst="rect">
            <a:avLst/>
          </a:prstGeom>
        </p:spPr>
      </p:pic>
    </p:spTree>
    <p:extLst>
      <p:ext uri="{BB962C8B-B14F-4D97-AF65-F5344CB8AC3E}">
        <p14:creationId xmlns:p14="http://schemas.microsoft.com/office/powerpoint/2010/main" val="3843699217"/>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BE1F8BF-8379-503D-0CC0-D8E5F10A22A8}"/>
              </a:ext>
            </a:extLst>
          </p:cNvPr>
          <p:cNvSpPr>
            <a:spLocks noGrp="1"/>
          </p:cNvSpPr>
          <p:nvPr>
            <p:ph type="title"/>
          </p:nvPr>
        </p:nvSpPr>
        <p:spPr>
          <a:xfrm>
            <a:off x="929640" y="648907"/>
            <a:ext cx="10847494" cy="1171069"/>
          </a:xfrm>
        </p:spPr>
        <p:txBody>
          <a:bodyPr anchor="t">
            <a:normAutofit/>
          </a:bodyPr>
          <a:lstStyle/>
          <a:p>
            <a:r>
              <a:rPr lang="en-IN" dirty="0">
                <a:latin typeface="Sitka Small Semibold" pitchFamily="2" charset="0"/>
              </a:rPr>
              <a:t>RISE AI Architecture</a:t>
            </a:r>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8" name="Content Placeholder 6">
            <a:extLst>
              <a:ext uri="{FF2B5EF4-FFF2-40B4-BE49-F238E27FC236}">
                <a16:creationId xmlns:a16="http://schemas.microsoft.com/office/drawing/2014/main" id="{3CEA120E-6E78-4421-9136-287A863B01A3}"/>
              </a:ext>
            </a:extLst>
          </p:cNvPr>
          <p:cNvGraphicFramePr>
            <a:graphicFrameLocks noGrp="1"/>
          </p:cNvGraphicFramePr>
          <p:nvPr>
            <p:extLst>
              <p:ext uri="{D42A27DB-BD31-4B8C-83A1-F6EECF244321}">
                <p14:modId xmlns:p14="http://schemas.microsoft.com/office/powerpoint/2010/main" val="3026368145"/>
              </p:ext>
            </p:extLst>
          </p:nvPr>
        </p:nvGraphicFramePr>
        <p:xfrm>
          <a:off x="929640" y="1995947"/>
          <a:ext cx="11198014" cy="36276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69598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8"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B6D7A4-CF68-46C0-92AB-71D4642F9B7D}"/>
              </a:ext>
            </a:extLst>
          </p:cNvPr>
          <p:cNvSpPr>
            <a:spLocks noGrp="1"/>
          </p:cNvSpPr>
          <p:nvPr>
            <p:ph type="title"/>
          </p:nvPr>
        </p:nvSpPr>
        <p:spPr>
          <a:xfrm>
            <a:off x="5496821" y="1371600"/>
            <a:ext cx="6034187" cy="1097280"/>
          </a:xfrm>
        </p:spPr>
        <p:txBody>
          <a:bodyPr>
            <a:normAutofit/>
          </a:bodyPr>
          <a:lstStyle/>
          <a:p>
            <a:pPr>
              <a:lnSpc>
                <a:spcPct val="90000"/>
              </a:lnSpc>
            </a:pPr>
            <a:r>
              <a:rPr lang="en-IN" sz="3400" dirty="0">
                <a:latin typeface="Sitka Small Semibold" pitchFamily="2" charset="0"/>
              </a:rPr>
              <a:t>Data Cleaning and Preprocessing</a:t>
            </a:r>
          </a:p>
        </p:txBody>
      </p:sp>
      <p:pic>
        <p:nvPicPr>
          <p:cNvPr id="4" name="Picture 3" descr="abstract programm binary code  and colored array cube Database">
            <a:extLst>
              <a:ext uri="{FF2B5EF4-FFF2-40B4-BE49-F238E27FC236}">
                <a16:creationId xmlns:a16="http://schemas.microsoft.com/office/drawing/2014/main" id="{BB11060B-BA51-FB95-DDA9-CF29665A9BEE}"/>
              </a:ext>
            </a:extLst>
          </p:cNvPr>
          <p:cNvPicPr>
            <a:picLocks noChangeAspect="1"/>
          </p:cNvPicPr>
          <p:nvPr/>
        </p:nvPicPr>
        <p:blipFill>
          <a:blip r:embed="rId2"/>
          <a:srcRect l="52173" r="4618" b="2"/>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B02812E-A4ED-311B-B93E-C7B6A0F77195}"/>
              </a:ext>
            </a:extLst>
          </p:cNvPr>
          <p:cNvSpPr>
            <a:spLocks noGrp="1"/>
          </p:cNvSpPr>
          <p:nvPr>
            <p:ph idx="1"/>
          </p:nvPr>
        </p:nvSpPr>
        <p:spPr>
          <a:xfrm>
            <a:off x="5496821" y="2633236"/>
            <a:ext cx="6034187" cy="3664687"/>
          </a:xfrm>
        </p:spPr>
        <p:txBody>
          <a:bodyPr>
            <a:normAutofit/>
          </a:bodyPr>
          <a:lstStyle/>
          <a:p>
            <a:pPr>
              <a:lnSpc>
                <a:spcPct val="110000"/>
              </a:lnSpc>
            </a:pPr>
            <a:r>
              <a:rPr lang="en-IN" sz="1400" dirty="0">
                <a:latin typeface="Sitka Display Semibold" pitchFamily="2" charset="0"/>
              </a:rPr>
              <a:t>One-hot encoding of Violation : </a:t>
            </a:r>
            <a:r>
              <a:rPr lang="en-IN" sz="1400" dirty="0">
                <a:latin typeface="Sitka Display" pitchFamily="2" charset="0"/>
              </a:rPr>
              <a:t>One hot encoding of ‘</a:t>
            </a:r>
            <a:r>
              <a:rPr lang="en-IN" sz="1400" dirty="0" err="1">
                <a:latin typeface="Sitka Display" pitchFamily="2" charset="0"/>
              </a:rPr>
              <a:t>violation_type</a:t>
            </a:r>
            <a:r>
              <a:rPr lang="en-IN" sz="1400" dirty="0">
                <a:latin typeface="Sitka Display" pitchFamily="2" charset="0"/>
              </a:rPr>
              <a:t>’ column has been done so as to classify each incident with the kind of Violation done.</a:t>
            </a:r>
          </a:p>
          <a:p>
            <a:pPr>
              <a:lnSpc>
                <a:spcPct val="110000"/>
              </a:lnSpc>
            </a:pPr>
            <a:r>
              <a:rPr lang="en-IN" sz="1400" dirty="0">
                <a:latin typeface="Sitka Display Semibold" pitchFamily="2" charset="0"/>
              </a:rPr>
              <a:t>Dropped Columns : </a:t>
            </a:r>
            <a:r>
              <a:rPr lang="en-IN" sz="1400" dirty="0">
                <a:latin typeface="Sitka Display" pitchFamily="2" charset="0"/>
              </a:rPr>
              <a:t>'</a:t>
            </a:r>
            <a:r>
              <a:rPr lang="en-IN" sz="1400" dirty="0" err="1">
                <a:latin typeface="Sitka Display" pitchFamily="2" charset="0"/>
              </a:rPr>
              <a:t>closed_datetime</a:t>
            </a:r>
            <a:r>
              <a:rPr lang="en-IN" sz="1400" dirty="0">
                <a:latin typeface="Sitka Display" pitchFamily="2" charset="0"/>
              </a:rPr>
              <a:t>', 'description', 'action_taken_timestamp','id','created_by_id','device_id','closed_datetime','offence_code','action_taken_timestamp’ columns have been dropped as many of them are “NULL” and others just increase redundancy. </a:t>
            </a:r>
          </a:p>
          <a:p>
            <a:pPr>
              <a:lnSpc>
                <a:spcPct val="110000"/>
              </a:lnSpc>
            </a:pPr>
            <a:r>
              <a:rPr lang="en-IN" sz="1400" dirty="0">
                <a:latin typeface="Sitka Display Semibold" pitchFamily="2" charset="0"/>
              </a:rPr>
              <a:t>Temporal Feature Engineering (Cyclical Encoding): </a:t>
            </a:r>
            <a:r>
              <a:rPr lang="en-IN" sz="1400" dirty="0">
                <a:latin typeface="Sitka Display" pitchFamily="2" charset="0"/>
              </a:rPr>
              <a:t>We have transformed the created, modified and validated datetime columns into cyclical(</a:t>
            </a:r>
            <a:r>
              <a:rPr lang="en-IN" sz="1400" dirty="0" err="1">
                <a:latin typeface="Sitka Display" pitchFamily="2" charset="0"/>
              </a:rPr>
              <a:t>sin,cos</a:t>
            </a:r>
            <a:r>
              <a:rPr lang="en-IN" sz="1400" dirty="0">
                <a:latin typeface="Sitka Display" pitchFamily="2" charset="0"/>
              </a:rPr>
              <a:t>) columns </a:t>
            </a:r>
          </a:p>
          <a:p>
            <a:pPr>
              <a:lnSpc>
                <a:spcPct val="110000"/>
              </a:lnSpc>
            </a:pPr>
            <a:r>
              <a:rPr lang="en-IN" sz="1400" dirty="0">
                <a:latin typeface="Sitka Display Semibold" pitchFamily="2" charset="0"/>
              </a:rPr>
              <a:t>Filling Unknown Cells : </a:t>
            </a:r>
            <a:r>
              <a:rPr lang="en-IN" sz="1400" dirty="0">
                <a:latin typeface="Sitka Display" pitchFamily="2" charset="0"/>
              </a:rPr>
              <a:t>The null cells in vehicle no and vehicle type are updated as “Unknown” creating an entirely separate identity of such incidences. The null cells in datetime are assigned as “-2”as it is out of range for (</a:t>
            </a:r>
            <a:r>
              <a:rPr lang="en-IN" sz="1400" dirty="0" err="1">
                <a:latin typeface="Sitka Display" pitchFamily="2" charset="0"/>
              </a:rPr>
              <a:t>sin,cos</a:t>
            </a:r>
            <a:r>
              <a:rPr lang="en-IN" sz="1400" dirty="0">
                <a:latin typeface="Sitka Display" pitchFamily="2" charset="0"/>
              </a:rPr>
              <a:t>) transforms signifying separate category.</a:t>
            </a:r>
            <a:endParaRPr lang="en-IN" sz="1400" dirty="0">
              <a:latin typeface="Sitka Display Semibold" pitchFamily="2" charset="0"/>
            </a:endParaRPr>
          </a:p>
          <a:p>
            <a:pPr>
              <a:lnSpc>
                <a:spcPct val="110000"/>
              </a:lnSpc>
            </a:pPr>
            <a:endParaRPr lang="en-IN" sz="1400" dirty="0">
              <a:latin typeface="Sitka Display Semibold" pitchFamily="2" charset="0"/>
            </a:endParaRPr>
          </a:p>
          <a:p>
            <a:pPr>
              <a:lnSpc>
                <a:spcPct val="110000"/>
              </a:lnSpc>
            </a:pPr>
            <a:endParaRPr lang="en-IN" sz="1400" dirty="0">
              <a:latin typeface="Sitka Display Semibold" pitchFamily="2" charset="0"/>
            </a:endParaRPr>
          </a:p>
        </p:txBody>
      </p:sp>
    </p:spTree>
    <p:extLst>
      <p:ext uri="{BB962C8B-B14F-4D97-AF65-F5344CB8AC3E}">
        <p14:creationId xmlns:p14="http://schemas.microsoft.com/office/powerpoint/2010/main" val="146077338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FD74E7-0B63-EDCD-17D5-9135949F7185}"/>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A724063-2FD9-0993-6CB5-4F3494356D71}"/>
              </a:ext>
            </a:extLst>
          </p:cNvPr>
          <p:cNvSpPr>
            <a:spLocks noGrp="1"/>
          </p:cNvSpPr>
          <p:nvPr>
            <p:ph type="title"/>
          </p:nvPr>
        </p:nvSpPr>
        <p:spPr>
          <a:xfrm>
            <a:off x="640080" y="4635365"/>
            <a:ext cx="5358392" cy="1298477"/>
          </a:xfrm>
        </p:spPr>
        <p:txBody>
          <a:bodyPr anchor="b">
            <a:normAutofit/>
          </a:bodyPr>
          <a:lstStyle/>
          <a:p>
            <a:pPr>
              <a:lnSpc>
                <a:spcPct val="90000"/>
              </a:lnSpc>
            </a:pPr>
            <a:r>
              <a:rPr lang="en-IN">
                <a:latin typeface="Sitka Small Semibold" pitchFamily="2" charset="0"/>
              </a:rPr>
              <a:t>Data Cleaning and Preprocessing</a:t>
            </a:r>
          </a:p>
        </p:txBody>
      </p:sp>
      <p:pic>
        <p:nvPicPr>
          <p:cNvPr id="4" name="Picture 3" descr="3.3. Major Tasks of Data Preprocessing [Cleaning, Integration, Reduction,  Transformation] by Shahzad">
            <a:extLst>
              <a:ext uri="{FF2B5EF4-FFF2-40B4-BE49-F238E27FC236}">
                <a16:creationId xmlns:a16="http://schemas.microsoft.com/office/drawing/2014/main" id="{11D10A2B-B523-3E20-22C3-1CB780B2A6B8}"/>
              </a:ext>
            </a:extLst>
          </p:cNvPr>
          <p:cNvPicPr>
            <a:picLocks noChangeAspect="1"/>
          </p:cNvPicPr>
          <p:nvPr/>
        </p:nvPicPr>
        <p:blipFill>
          <a:blip r:embed="rId2"/>
          <a:stretch>
            <a:fillRect/>
          </a:stretch>
        </p:blipFill>
        <p:spPr>
          <a:xfrm>
            <a:off x="713232" y="836141"/>
            <a:ext cx="5295901" cy="2978944"/>
          </a:xfrm>
          <a:prstGeom prst="rect">
            <a:avLst/>
          </a:prstGeom>
        </p:spPr>
      </p:pic>
      <p:cxnSp>
        <p:nvCxnSpPr>
          <p:cNvPr id="32" name="Straight Connector 31">
            <a:extLst>
              <a:ext uri="{FF2B5EF4-FFF2-40B4-BE49-F238E27FC236}">
                <a16:creationId xmlns:a16="http://schemas.microsoft.com/office/drawing/2014/main" id="{B209265E-E0D7-493B-97CE-2263D50C3F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62720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DF5328B4-684D-03A8-8E7A-FCA3E81D7195}"/>
              </a:ext>
            </a:extLst>
          </p:cNvPr>
          <p:cNvSpPr>
            <a:spLocks noGrp="1"/>
          </p:cNvSpPr>
          <p:nvPr>
            <p:ph idx="1"/>
          </p:nvPr>
        </p:nvSpPr>
        <p:spPr>
          <a:xfrm>
            <a:off x="6767622" y="914400"/>
            <a:ext cx="4763387" cy="5383523"/>
          </a:xfrm>
        </p:spPr>
        <p:txBody>
          <a:bodyPr anchor="t">
            <a:normAutofit/>
          </a:bodyPr>
          <a:lstStyle/>
          <a:p>
            <a:pPr>
              <a:lnSpc>
                <a:spcPct val="110000"/>
              </a:lnSpc>
            </a:pPr>
            <a:r>
              <a:rPr lang="en-IN" sz="1600" dirty="0">
                <a:latin typeface="Sitka Display Semibold" pitchFamily="2" charset="0"/>
              </a:rPr>
              <a:t>Binary Weekend Flag: </a:t>
            </a:r>
            <a:r>
              <a:rPr lang="en-IN" sz="1600" dirty="0">
                <a:latin typeface="Sitka Display" pitchFamily="2" charset="0"/>
              </a:rPr>
              <a:t>A </a:t>
            </a:r>
            <a:r>
              <a:rPr lang="en-IN" sz="1600" dirty="0" err="1">
                <a:latin typeface="Sitka Display" pitchFamily="2" charset="0"/>
              </a:rPr>
              <a:t>is_weekend</a:t>
            </a:r>
            <a:r>
              <a:rPr lang="en-IN" sz="1600" dirty="0">
                <a:latin typeface="Sitka Display" pitchFamily="2" charset="0"/>
              </a:rPr>
              <a:t> flag is created based on the </a:t>
            </a:r>
            <a:r>
              <a:rPr lang="en-IN" sz="1600" dirty="0" err="1">
                <a:latin typeface="Sitka Display" pitchFamily="2" charset="0"/>
              </a:rPr>
              <a:t>day_of_week</a:t>
            </a:r>
            <a:r>
              <a:rPr lang="en-IN" sz="1600" dirty="0">
                <a:latin typeface="Sitka Display" pitchFamily="2" charset="0"/>
              </a:rPr>
              <a:t> (1 for Saturday/Sunday, 0 otherwise). It done so that model should learn how traffic violation spikes during weekends due to holidays</a:t>
            </a:r>
          </a:p>
          <a:p>
            <a:pPr>
              <a:lnSpc>
                <a:spcPct val="110000"/>
              </a:lnSpc>
            </a:pPr>
            <a:r>
              <a:rPr lang="en-IN" sz="1600" dirty="0">
                <a:latin typeface="Sitka Display Semibold" pitchFamily="2" charset="0"/>
              </a:rPr>
              <a:t>Target Variable Normalization:  </a:t>
            </a:r>
            <a:r>
              <a:rPr lang="en-IN" sz="1600" dirty="0">
                <a:latin typeface="Sitka Display" pitchFamily="2" charset="0"/>
              </a:rPr>
              <a:t>The raw </a:t>
            </a:r>
            <a:r>
              <a:rPr lang="en-IN" sz="1600" dirty="0" err="1">
                <a:latin typeface="Sitka Display" pitchFamily="2" charset="0"/>
              </a:rPr>
              <a:t>validation_status</a:t>
            </a:r>
            <a:r>
              <a:rPr lang="en-IN" sz="1600" dirty="0">
                <a:latin typeface="Sitka Display" pitchFamily="2" charset="0"/>
              </a:rPr>
              <a:t> column is transformed into a strict binary target variable: </a:t>
            </a:r>
            <a:r>
              <a:rPr lang="en-IN" sz="1600" dirty="0" err="1">
                <a:latin typeface="Sitka Display" pitchFamily="2" charset="0"/>
              </a:rPr>
              <a:t>status_APPROVED</a:t>
            </a:r>
            <a:r>
              <a:rPr lang="en-IN" sz="1600" dirty="0">
                <a:latin typeface="Sitka Display" pitchFamily="2" charset="0"/>
              </a:rPr>
              <a:t> (1 for "APPROVED", 0 for everything else).</a:t>
            </a:r>
          </a:p>
          <a:p>
            <a:pPr>
              <a:lnSpc>
                <a:spcPct val="110000"/>
              </a:lnSpc>
            </a:pPr>
            <a:r>
              <a:rPr lang="en-IN" sz="1600" b="1" dirty="0">
                <a:latin typeface="Sitka Display Semibold" pitchFamily="2" charset="0"/>
              </a:rPr>
              <a:t>Spatial Engineering (DBSCAN &amp; </a:t>
            </a:r>
            <a:r>
              <a:rPr lang="en-IN" sz="1600" b="1" dirty="0" err="1">
                <a:latin typeface="Sitka Display Semibold" pitchFamily="2" charset="0"/>
              </a:rPr>
              <a:t>KDTree</a:t>
            </a:r>
            <a:r>
              <a:rPr lang="en-IN" sz="1600" b="1" dirty="0">
                <a:latin typeface="Sitka Display Semibold" pitchFamily="2" charset="0"/>
              </a:rPr>
              <a:t>/</a:t>
            </a:r>
            <a:r>
              <a:rPr lang="en-IN" sz="1600" b="1" dirty="0" err="1">
                <a:latin typeface="Sitka Display Semibold" pitchFamily="2" charset="0"/>
              </a:rPr>
              <a:t>BallTree</a:t>
            </a:r>
            <a:r>
              <a:rPr lang="en-IN" sz="1600" b="1" dirty="0">
                <a:latin typeface="Sitka Display Semibold" pitchFamily="2" charset="0"/>
              </a:rPr>
              <a:t>): </a:t>
            </a:r>
            <a:r>
              <a:rPr lang="en-IN" sz="1600" dirty="0">
                <a:latin typeface="Sitka Display" pitchFamily="2" charset="0"/>
              </a:rPr>
              <a:t>We have converted raw Latitude/Longitude values into radians. Applied the Haversine metric to account for the Earth's curvature. We used DBSCAN to group dense geographic coordinates into specific clusters (e.g., Cluster_3) based on a 200-meter radius. Compiled these clusters into a </a:t>
            </a:r>
            <a:r>
              <a:rPr lang="en-IN" sz="1600" dirty="0" err="1">
                <a:latin typeface="Sitka Display" pitchFamily="2" charset="0"/>
              </a:rPr>
              <a:t>BallTree</a:t>
            </a:r>
            <a:r>
              <a:rPr lang="en-IN" sz="1600" dirty="0">
                <a:latin typeface="Sitka Display" pitchFamily="2" charset="0"/>
              </a:rPr>
              <a:t> matrix for rapid spatial lookups during inference.</a:t>
            </a:r>
          </a:p>
        </p:txBody>
      </p:sp>
    </p:spTree>
    <p:extLst>
      <p:ext uri="{BB962C8B-B14F-4D97-AF65-F5344CB8AC3E}">
        <p14:creationId xmlns:p14="http://schemas.microsoft.com/office/powerpoint/2010/main" val="34881143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
                                            <p:txEl>
                                              <p:pRg st="1" end="1"/>
                                            </p:txEl>
                                          </p:spTgt>
                                        </p:tgtEl>
                                        <p:attrNameLst>
                                          <p:attrName>style.visibility</p:attrName>
                                        </p:attrNameLst>
                                      </p:cBhvr>
                                      <p:to>
                                        <p:strVal val="visible"/>
                                      </p:to>
                                    </p:set>
                                    <p:animEffect transition="in" filter="fade">
                                      <p:cBhvr>
                                        <p:cTn id="10" dur="500"/>
                                        <p:tgtEl>
                                          <p:spTgt spid="2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xEl>
                                              <p:pRg st="2" end="2"/>
                                            </p:txEl>
                                          </p:spTgt>
                                        </p:tgtEl>
                                        <p:attrNameLst>
                                          <p:attrName>style.visibility</p:attrName>
                                        </p:attrNameLst>
                                      </p:cBhvr>
                                      <p:to>
                                        <p:strVal val="visible"/>
                                      </p:to>
                                    </p:set>
                                    <p:animEffect transition="in" filter="fade">
                                      <p:cBhvr>
                                        <p:cTn id="13"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F1270B-B98A-8ABE-BED7-1B96C67CD9B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655CD2-AD09-5CC0-FD3A-D067C33B2528}"/>
              </a:ext>
            </a:extLst>
          </p:cNvPr>
          <p:cNvSpPr>
            <a:spLocks noGrp="1"/>
          </p:cNvSpPr>
          <p:nvPr>
            <p:ph type="title"/>
          </p:nvPr>
        </p:nvSpPr>
        <p:spPr>
          <a:xfrm>
            <a:off x="640080" y="1371600"/>
            <a:ext cx="5737859" cy="1097280"/>
          </a:xfrm>
        </p:spPr>
        <p:txBody>
          <a:bodyPr>
            <a:normAutofit/>
          </a:bodyPr>
          <a:lstStyle/>
          <a:p>
            <a:pPr>
              <a:lnSpc>
                <a:spcPct val="90000"/>
              </a:lnSpc>
            </a:pPr>
            <a:r>
              <a:rPr lang="en-IN" sz="2800" dirty="0">
                <a:latin typeface="Sitka Small Semibold" pitchFamily="2" charset="0"/>
              </a:rPr>
              <a:t>Training and </a:t>
            </a:r>
            <a:r>
              <a:rPr lang="en-IN" sz="2800" dirty="0" err="1">
                <a:latin typeface="Sitka Small Semibold" pitchFamily="2" charset="0"/>
              </a:rPr>
              <a:t>Impelementing</a:t>
            </a:r>
            <a:r>
              <a:rPr lang="en-IN" sz="2800" dirty="0">
                <a:latin typeface="Sitka Small Semibold" pitchFamily="2" charset="0"/>
              </a:rPr>
              <a:t> a </a:t>
            </a:r>
            <a:r>
              <a:rPr lang="en-IN" sz="2800" dirty="0" err="1">
                <a:latin typeface="Sitka Small Semibold" pitchFamily="2" charset="0"/>
              </a:rPr>
              <a:t>CatBoostModel</a:t>
            </a:r>
            <a:endParaRPr lang="en-IN" sz="2800" dirty="0"/>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BB2920A-5F05-C987-87E7-BD03997B7F75}"/>
              </a:ext>
            </a:extLst>
          </p:cNvPr>
          <p:cNvSpPr>
            <a:spLocks noGrp="1"/>
          </p:cNvSpPr>
          <p:nvPr>
            <p:ph idx="1"/>
          </p:nvPr>
        </p:nvSpPr>
        <p:spPr>
          <a:xfrm>
            <a:off x="640080" y="2633236"/>
            <a:ext cx="5737860" cy="3666980"/>
          </a:xfrm>
        </p:spPr>
        <p:txBody>
          <a:bodyPr>
            <a:normAutofit/>
          </a:bodyPr>
          <a:lstStyle/>
          <a:p>
            <a:pPr>
              <a:lnSpc>
                <a:spcPct val="110000"/>
              </a:lnSpc>
            </a:pPr>
            <a:r>
              <a:rPr lang="en-IN" sz="1700" dirty="0">
                <a:latin typeface="Sitka Display Semibold" pitchFamily="2" charset="0"/>
              </a:rPr>
              <a:t>DB Scan : </a:t>
            </a:r>
            <a:r>
              <a:rPr lang="en-IN" sz="1700" dirty="0">
                <a:latin typeface="Sitka Display "/>
              </a:rPr>
              <a:t>DB scan is used to form clusters using the latitudes and longitude points given from the datasets. It is easier to compute clustered in the </a:t>
            </a:r>
            <a:r>
              <a:rPr lang="en-IN" sz="1700" dirty="0" err="1">
                <a:latin typeface="Sitka Display "/>
              </a:rPr>
              <a:t>CatBoost</a:t>
            </a:r>
            <a:r>
              <a:rPr lang="en-IN" sz="1700" dirty="0">
                <a:latin typeface="Sitka Display "/>
              </a:rPr>
              <a:t> model for learning instead of the longitude and latitude numbers. However, this model of clustering is super slow, which can hamper the under one minute computation of our prototype. Therefore to solve this issue, </a:t>
            </a:r>
            <a:r>
              <a:rPr lang="en-IN" sz="1700" dirty="0" err="1">
                <a:latin typeface="Sitka Display "/>
              </a:rPr>
              <a:t>BallTree</a:t>
            </a:r>
            <a:r>
              <a:rPr lang="en-IN" sz="1700" dirty="0">
                <a:latin typeface="Sitka Display "/>
              </a:rPr>
              <a:t> is used.</a:t>
            </a:r>
          </a:p>
          <a:p>
            <a:pPr>
              <a:lnSpc>
                <a:spcPct val="110000"/>
              </a:lnSpc>
            </a:pPr>
            <a:r>
              <a:rPr lang="en-IN" sz="1700" dirty="0" err="1">
                <a:latin typeface="Sitka Display Semibold" pitchFamily="2" charset="0"/>
              </a:rPr>
              <a:t>BallTree</a:t>
            </a:r>
            <a:r>
              <a:rPr lang="en-IN" sz="1700" dirty="0">
                <a:latin typeface="Sitka Display Semibold" pitchFamily="2" charset="0"/>
              </a:rPr>
              <a:t> : </a:t>
            </a:r>
            <a:r>
              <a:rPr lang="en-IN" sz="1700" dirty="0" err="1">
                <a:latin typeface="Sitka Display "/>
              </a:rPr>
              <a:t>BallTree</a:t>
            </a:r>
            <a:r>
              <a:rPr lang="en-IN" sz="1700" dirty="0">
                <a:latin typeface="Sitka Display "/>
              </a:rPr>
              <a:t> is used to store the mapped points and the cluster ids because doing DB scan every single time on the whole map for a single new point is computationally expensive.</a:t>
            </a:r>
          </a:p>
        </p:txBody>
      </p:sp>
      <p:pic>
        <p:nvPicPr>
          <p:cNvPr id="4" name="Picture 3" descr="DBSCAN Clustering in Machine Learning">
            <a:extLst>
              <a:ext uri="{FF2B5EF4-FFF2-40B4-BE49-F238E27FC236}">
                <a16:creationId xmlns:a16="http://schemas.microsoft.com/office/drawing/2014/main" id="{5B3DE27F-C7CA-8A22-9792-88EB2FAFED84}"/>
              </a:ext>
            </a:extLst>
          </p:cNvPr>
          <p:cNvPicPr>
            <a:picLocks noChangeAspect="1"/>
          </p:cNvPicPr>
          <p:nvPr/>
        </p:nvPicPr>
        <p:blipFill>
          <a:blip r:embed="rId2"/>
          <a:stretch>
            <a:fillRect/>
          </a:stretch>
        </p:blipFill>
        <p:spPr>
          <a:xfrm>
            <a:off x="7155179" y="2033588"/>
            <a:ext cx="4375829" cy="4266628"/>
          </a:xfrm>
          <a:prstGeom prst="rect">
            <a:avLst/>
          </a:prstGeom>
        </p:spPr>
      </p:pic>
    </p:spTree>
    <p:extLst>
      <p:ext uri="{BB962C8B-B14F-4D97-AF65-F5344CB8AC3E}">
        <p14:creationId xmlns:p14="http://schemas.microsoft.com/office/powerpoint/2010/main" val="24336206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81EA351-00ED-8E9C-FF0F-BA136EEF75EE}"/>
              </a:ext>
            </a:extLst>
          </p:cNvPr>
          <p:cNvSpPr>
            <a:spLocks noGrp="1"/>
          </p:cNvSpPr>
          <p:nvPr>
            <p:ph type="title"/>
          </p:nvPr>
        </p:nvSpPr>
        <p:spPr>
          <a:xfrm>
            <a:off x="640080" y="914399"/>
            <a:ext cx="10847494" cy="1171069"/>
          </a:xfrm>
        </p:spPr>
        <p:txBody>
          <a:bodyPr anchor="t">
            <a:normAutofit/>
          </a:bodyPr>
          <a:lstStyle/>
          <a:p>
            <a:pPr>
              <a:lnSpc>
                <a:spcPct val="90000"/>
              </a:lnSpc>
            </a:pPr>
            <a:r>
              <a:rPr lang="en-IN" sz="3700" dirty="0">
                <a:latin typeface="Sitka Small Semibold" pitchFamily="2" charset="0"/>
              </a:rPr>
              <a:t>Training and </a:t>
            </a:r>
            <a:r>
              <a:rPr lang="en-IN" sz="3700" dirty="0" err="1">
                <a:latin typeface="Sitka Small Semibold" pitchFamily="2" charset="0"/>
              </a:rPr>
              <a:t>Impelementing</a:t>
            </a:r>
            <a:r>
              <a:rPr lang="en-IN" sz="3700" dirty="0">
                <a:latin typeface="Sitka Small Semibold" pitchFamily="2" charset="0"/>
              </a:rPr>
              <a:t> a </a:t>
            </a:r>
            <a:r>
              <a:rPr lang="en-IN" sz="3700" dirty="0" err="1">
                <a:latin typeface="Sitka Small Semibold" pitchFamily="2" charset="0"/>
              </a:rPr>
              <a:t>CatBoostModel</a:t>
            </a:r>
            <a:endParaRPr lang="en-IN" sz="3700" dirty="0">
              <a:latin typeface="Sitka Small Semibold" pitchFamily="2" charset="0"/>
            </a:endParaRPr>
          </a:p>
        </p:txBody>
      </p:sp>
      <p:pic>
        <p:nvPicPr>
          <p:cNvPr id="4" name="Picture 3" descr="Anomaly Detection with CatBoost - GeeksforGeeks">
            <a:extLst>
              <a:ext uri="{FF2B5EF4-FFF2-40B4-BE49-F238E27FC236}">
                <a16:creationId xmlns:a16="http://schemas.microsoft.com/office/drawing/2014/main" id="{E237A910-2036-4C15-E6C5-BF9ED8E1477B}"/>
              </a:ext>
            </a:extLst>
          </p:cNvPr>
          <p:cNvPicPr>
            <a:picLocks noChangeAspect="1"/>
          </p:cNvPicPr>
          <p:nvPr/>
        </p:nvPicPr>
        <p:blipFill>
          <a:blip r:embed="rId2"/>
          <a:stretch>
            <a:fillRect/>
          </a:stretch>
        </p:blipFill>
        <p:spPr>
          <a:xfrm>
            <a:off x="713232" y="2724468"/>
            <a:ext cx="5648193" cy="2824096"/>
          </a:xfrm>
          <a:prstGeom prst="rect">
            <a:avLst/>
          </a:prstGeom>
        </p:spPr>
      </p:pic>
      <p:sp>
        <p:nvSpPr>
          <p:cNvPr id="3" name="Content Placeholder 2">
            <a:extLst>
              <a:ext uri="{FF2B5EF4-FFF2-40B4-BE49-F238E27FC236}">
                <a16:creationId xmlns:a16="http://schemas.microsoft.com/office/drawing/2014/main" id="{9A8DA258-A300-57B9-8E31-BE9B882D80CA}"/>
              </a:ext>
            </a:extLst>
          </p:cNvPr>
          <p:cNvSpPr>
            <a:spLocks noGrp="1"/>
          </p:cNvSpPr>
          <p:nvPr>
            <p:ph idx="1"/>
          </p:nvPr>
        </p:nvSpPr>
        <p:spPr>
          <a:xfrm>
            <a:off x="6915150" y="2256287"/>
            <a:ext cx="4563618" cy="3760459"/>
          </a:xfrm>
        </p:spPr>
        <p:txBody>
          <a:bodyPr anchor="t">
            <a:normAutofit/>
          </a:bodyPr>
          <a:lstStyle/>
          <a:p>
            <a:r>
              <a:rPr lang="en-IN" sz="1900" dirty="0">
                <a:latin typeface="Sitka Display Semibold" pitchFamily="2" charset="0"/>
              </a:rPr>
              <a:t>Categorical cols : </a:t>
            </a:r>
            <a:r>
              <a:rPr lang="en-IN" sz="1900" dirty="0">
                <a:latin typeface="Sitka Display" pitchFamily="2" charset="0"/>
              </a:rPr>
              <a:t>'</a:t>
            </a:r>
            <a:r>
              <a:rPr lang="en-IN" sz="1900" dirty="0" err="1">
                <a:latin typeface="Sitka Display" pitchFamily="2" charset="0"/>
              </a:rPr>
              <a:t>police_station</a:t>
            </a:r>
            <a:r>
              <a:rPr lang="en-IN" sz="1900" dirty="0">
                <a:latin typeface="Sitka Display" pitchFamily="2" charset="0"/>
              </a:rPr>
              <a:t>', '</a:t>
            </a:r>
            <a:r>
              <a:rPr lang="en-IN" sz="1900" dirty="0" err="1">
                <a:latin typeface="Sitka Display" pitchFamily="2" charset="0"/>
              </a:rPr>
              <a:t>junction_name</a:t>
            </a:r>
            <a:r>
              <a:rPr lang="en-IN" sz="1900" dirty="0">
                <a:latin typeface="Sitka Display" pitchFamily="2" charset="0"/>
              </a:rPr>
              <a:t>', '</a:t>
            </a:r>
            <a:r>
              <a:rPr lang="en-IN" sz="1900" dirty="0" err="1">
                <a:latin typeface="Sitka Display" pitchFamily="2" charset="0"/>
              </a:rPr>
              <a:t>vehicle_type</a:t>
            </a:r>
            <a:r>
              <a:rPr lang="en-IN" sz="1900" dirty="0">
                <a:latin typeface="Sitka Display" pitchFamily="2" charset="0"/>
              </a:rPr>
              <a:t>', '</a:t>
            </a:r>
            <a:r>
              <a:rPr lang="en-IN" sz="1900" dirty="0" err="1">
                <a:latin typeface="Sitka Display" pitchFamily="2" charset="0"/>
              </a:rPr>
              <a:t>cluster_id</a:t>
            </a:r>
            <a:r>
              <a:rPr lang="en-IN" sz="1900" dirty="0">
                <a:latin typeface="Sitka Display" pitchFamily="2" charset="0"/>
              </a:rPr>
              <a:t>’ are given as categorical columns for precise classification by the </a:t>
            </a:r>
            <a:r>
              <a:rPr lang="en-IN" sz="1900" dirty="0" err="1">
                <a:latin typeface="Sitka Display" pitchFamily="2" charset="0"/>
              </a:rPr>
              <a:t>CatBoost</a:t>
            </a:r>
            <a:r>
              <a:rPr lang="en-IN" sz="1900" dirty="0">
                <a:latin typeface="Sitka Display" pitchFamily="2" charset="0"/>
              </a:rPr>
              <a:t> model. </a:t>
            </a:r>
          </a:p>
          <a:p>
            <a:r>
              <a:rPr lang="en-IN" sz="1900" dirty="0"/>
              <a:t> </a:t>
            </a:r>
            <a:r>
              <a:rPr lang="en-IN" sz="1900" dirty="0">
                <a:latin typeface="Sitka Display Semibold" pitchFamily="2" charset="0"/>
              </a:rPr>
              <a:t>y = </a:t>
            </a:r>
            <a:r>
              <a:rPr lang="en-IN" sz="1900" dirty="0" err="1">
                <a:latin typeface="Sitka Display Semibold" pitchFamily="2" charset="0"/>
              </a:rPr>
              <a:t>df</a:t>
            </a:r>
            <a:r>
              <a:rPr lang="en-IN" sz="1900" dirty="0">
                <a:latin typeface="Sitka Display Semibold" pitchFamily="2" charset="0"/>
              </a:rPr>
              <a:t>['</a:t>
            </a:r>
            <a:r>
              <a:rPr lang="en-IN" sz="1900" dirty="0" err="1">
                <a:latin typeface="Sitka Display Semibold" pitchFamily="2" charset="0"/>
              </a:rPr>
              <a:t>validation_status</a:t>
            </a:r>
            <a:r>
              <a:rPr lang="en-IN" sz="1900" dirty="0">
                <a:latin typeface="Sitka Display Semibold" pitchFamily="2" charset="0"/>
              </a:rPr>
              <a:t>'].apply(lambda x: 1 if str(x).upper() == 'APPROVED' else 0): </a:t>
            </a:r>
            <a:r>
              <a:rPr lang="en-IN" sz="1900" dirty="0">
                <a:latin typeface="Sitka Display" pitchFamily="2" charset="0"/>
              </a:rPr>
              <a:t>This is the target variable normalization done to give a precise and clear output for any traffic violation complaint received.</a:t>
            </a:r>
          </a:p>
          <a:p>
            <a:pPr marL="0" indent="0">
              <a:buNone/>
            </a:pPr>
            <a:endParaRPr lang="en-IN" sz="1900" dirty="0">
              <a:latin typeface="Sitka Display" pitchFamily="2" charset="0"/>
            </a:endParaRPr>
          </a:p>
        </p:txBody>
      </p:sp>
      <p:cxnSp>
        <p:nvCxnSpPr>
          <p:cNvPr id="11" name="Straight Connector 10">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2474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BA11973-768F-91EC-E4EF-0CF6E479CFEA}"/>
              </a:ext>
            </a:extLst>
          </p:cNvPr>
          <p:cNvSpPr>
            <a:spLocks noGrp="1"/>
          </p:cNvSpPr>
          <p:nvPr>
            <p:ph type="title"/>
          </p:nvPr>
        </p:nvSpPr>
        <p:spPr>
          <a:xfrm>
            <a:off x="640080" y="914399"/>
            <a:ext cx="10847494" cy="1171069"/>
          </a:xfrm>
        </p:spPr>
        <p:txBody>
          <a:bodyPr anchor="t">
            <a:normAutofit/>
          </a:bodyPr>
          <a:lstStyle/>
          <a:p>
            <a:pPr>
              <a:lnSpc>
                <a:spcPct val="90000"/>
              </a:lnSpc>
            </a:pPr>
            <a:r>
              <a:rPr lang="en-IN" sz="3700" dirty="0">
                <a:latin typeface="Sitka Small Semibold" pitchFamily="2" charset="0"/>
              </a:rPr>
              <a:t>Training and </a:t>
            </a:r>
            <a:r>
              <a:rPr lang="en-IN" sz="3700" dirty="0" err="1">
                <a:latin typeface="Sitka Small Semibold" pitchFamily="2" charset="0"/>
              </a:rPr>
              <a:t>Impelementing</a:t>
            </a:r>
            <a:r>
              <a:rPr lang="en-IN" sz="3700" dirty="0">
                <a:latin typeface="Sitka Small Semibold" pitchFamily="2" charset="0"/>
              </a:rPr>
              <a:t> a </a:t>
            </a:r>
            <a:r>
              <a:rPr lang="en-IN" sz="3700" dirty="0" err="1">
                <a:latin typeface="Sitka Small Semibold" pitchFamily="2" charset="0"/>
              </a:rPr>
              <a:t>CatBoostModel</a:t>
            </a:r>
            <a:endParaRPr lang="en-IN" sz="3700" dirty="0"/>
          </a:p>
        </p:txBody>
      </p:sp>
      <p:pic>
        <p:nvPicPr>
          <p:cNvPr id="4" name="Picture 3" descr="CatBoost Monitoring training progress - GeeksforGeeks">
            <a:extLst>
              <a:ext uri="{FF2B5EF4-FFF2-40B4-BE49-F238E27FC236}">
                <a16:creationId xmlns:a16="http://schemas.microsoft.com/office/drawing/2014/main" id="{4C54BC5F-0437-4F96-82E2-A69A708B0C6F}"/>
              </a:ext>
            </a:extLst>
          </p:cNvPr>
          <p:cNvPicPr>
            <a:picLocks noChangeAspect="1"/>
          </p:cNvPicPr>
          <p:nvPr/>
        </p:nvPicPr>
        <p:blipFill>
          <a:blip r:embed="rId2"/>
          <a:stretch>
            <a:fillRect/>
          </a:stretch>
        </p:blipFill>
        <p:spPr>
          <a:xfrm>
            <a:off x="713232" y="2329095"/>
            <a:ext cx="5648193" cy="3614842"/>
          </a:xfrm>
          <a:prstGeom prst="rect">
            <a:avLst/>
          </a:prstGeom>
        </p:spPr>
      </p:pic>
      <p:sp>
        <p:nvSpPr>
          <p:cNvPr id="3" name="Content Placeholder 2">
            <a:extLst>
              <a:ext uri="{FF2B5EF4-FFF2-40B4-BE49-F238E27FC236}">
                <a16:creationId xmlns:a16="http://schemas.microsoft.com/office/drawing/2014/main" id="{D167F108-3731-032C-8F01-E7E19B149E91}"/>
              </a:ext>
            </a:extLst>
          </p:cNvPr>
          <p:cNvSpPr>
            <a:spLocks noGrp="1"/>
          </p:cNvSpPr>
          <p:nvPr>
            <p:ph idx="1"/>
          </p:nvPr>
        </p:nvSpPr>
        <p:spPr>
          <a:xfrm>
            <a:off x="6915150" y="2256287"/>
            <a:ext cx="4563618" cy="3760459"/>
          </a:xfrm>
        </p:spPr>
        <p:txBody>
          <a:bodyPr anchor="t">
            <a:normAutofit/>
          </a:bodyPr>
          <a:lstStyle/>
          <a:p>
            <a:pPr>
              <a:lnSpc>
                <a:spcPct val="110000"/>
              </a:lnSpc>
            </a:pPr>
            <a:r>
              <a:rPr lang="en-IN" sz="1100" dirty="0">
                <a:latin typeface="Sitka Display Semibold" pitchFamily="2" charset="0"/>
              </a:rPr>
              <a:t>“</a:t>
            </a:r>
            <a:r>
              <a:rPr lang="en-IN" sz="1100" dirty="0" err="1">
                <a:latin typeface="Sitka Display Semibold" pitchFamily="2" charset="0"/>
              </a:rPr>
              <a:t>leaky_columns</a:t>
            </a:r>
            <a:r>
              <a:rPr lang="en-IN" sz="1100" dirty="0">
                <a:latin typeface="Sitka Display Semibold" pitchFamily="2" charset="0"/>
              </a:rPr>
              <a:t> = ['</a:t>
            </a:r>
            <a:r>
              <a:rPr lang="en-IN" sz="1100" dirty="0" err="1">
                <a:latin typeface="Sitka Display Semibold" pitchFamily="2" charset="0"/>
              </a:rPr>
              <a:t>validation_status</a:t>
            </a:r>
            <a:r>
              <a:rPr lang="en-IN" sz="1100" dirty="0">
                <a:latin typeface="Sitka Display Semibold" pitchFamily="2" charset="0"/>
              </a:rPr>
              <a:t>', '</a:t>
            </a:r>
            <a:r>
              <a:rPr lang="en-IN" sz="1100" dirty="0" err="1">
                <a:latin typeface="Sitka Display Semibold" pitchFamily="2" charset="0"/>
              </a:rPr>
              <a:t>data_sent_to_scita</a:t>
            </a:r>
            <a:r>
              <a:rPr lang="en-IN" sz="1100" dirty="0">
                <a:latin typeface="Sitka Display Semibold" pitchFamily="2" charset="0"/>
              </a:rPr>
              <a:t>', '</a:t>
            </a:r>
            <a:r>
              <a:rPr lang="en-IN" sz="1100" dirty="0" err="1">
                <a:latin typeface="Sitka Display Semibold" pitchFamily="2" charset="0"/>
              </a:rPr>
              <a:t>data_sent_to_scita_timestamp</a:t>
            </a:r>
            <a:r>
              <a:rPr lang="en-IN" sz="1100" dirty="0">
                <a:latin typeface="Sitka Display Semibold" pitchFamily="2" charset="0"/>
              </a:rPr>
              <a:t>’, '</a:t>
            </a:r>
            <a:r>
              <a:rPr lang="en-IN" sz="1100" dirty="0" err="1">
                <a:latin typeface="Sitka Display Semibold" pitchFamily="2" charset="0"/>
              </a:rPr>
              <a:t>updated_vehicle_number</a:t>
            </a:r>
            <a:r>
              <a:rPr lang="en-IN" sz="1100" dirty="0">
                <a:latin typeface="Sitka Display Semibold" pitchFamily="2" charset="0"/>
              </a:rPr>
              <a:t>', '</a:t>
            </a:r>
            <a:r>
              <a:rPr lang="en-IN" sz="1100" dirty="0" err="1">
                <a:latin typeface="Sitka Display Semibold" pitchFamily="2" charset="0"/>
              </a:rPr>
              <a:t>updated_vehicle_type</a:t>
            </a:r>
            <a:r>
              <a:rPr lang="en-IN" sz="1100" dirty="0">
                <a:latin typeface="Sitka Display Semibold" pitchFamily="2" charset="0"/>
              </a:rPr>
              <a:t>', 'is_validated','</a:t>
            </a:r>
            <a:r>
              <a:rPr lang="en-IN" sz="1100" dirty="0" err="1">
                <a:latin typeface="Sitka Display Semibold" pitchFamily="2" charset="0"/>
              </a:rPr>
              <a:t>val_is_weekend</a:t>
            </a:r>
            <a:r>
              <a:rPr lang="en-IN" sz="1100" dirty="0">
                <a:latin typeface="Sitka Display Semibold" pitchFamily="2" charset="0"/>
              </a:rPr>
              <a:t>', '</a:t>
            </a:r>
            <a:r>
              <a:rPr lang="en-IN" sz="1100" dirty="0" err="1">
                <a:latin typeface="Sitka Display Semibold" pitchFamily="2" charset="0"/>
              </a:rPr>
              <a:t>val_time_sin</a:t>
            </a:r>
            <a:r>
              <a:rPr lang="en-IN" sz="1100" dirty="0">
                <a:latin typeface="Sitka Display Semibold" pitchFamily="2" charset="0"/>
              </a:rPr>
              <a:t>', '</a:t>
            </a:r>
            <a:r>
              <a:rPr lang="en-IN" sz="1100" dirty="0" err="1">
                <a:latin typeface="Sitka Display Semibold" pitchFamily="2" charset="0"/>
              </a:rPr>
              <a:t>val_time_cos</a:t>
            </a:r>
            <a:r>
              <a:rPr lang="en-IN" sz="1100" dirty="0">
                <a:latin typeface="Sitka Display Semibold" pitchFamily="2" charset="0"/>
              </a:rPr>
              <a:t>', '</a:t>
            </a:r>
            <a:r>
              <a:rPr lang="en-IN" sz="1100" dirty="0" err="1">
                <a:latin typeface="Sitka Display Semibold" pitchFamily="2" charset="0"/>
              </a:rPr>
              <a:t>val_day_sin</a:t>
            </a:r>
            <a:r>
              <a:rPr lang="en-IN" sz="1100" dirty="0">
                <a:latin typeface="Sitka Display Semibold" pitchFamily="2" charset="0"/>
              </a:rPr>
              <a:t>', '</a:t>
            </a:r>
            <a:r>
              <a:rPr lang="en-IN" sz="1100" dirty="0" err="1">
                <a:latin typeface="Sitka Display Semibold" pitchFamily="2" charset="0"/>
              </a:rPr>
              <a:t>val_day_cos</a:t>
            </a:r>
            <a:r>
              <a:rPr lang="en-IN" sz="1100" dirty="0">
                <a:latin typeface="Sitka Display Semibold" pitchFamily="2" charset="0"/>
              </a:rPr>
              <a:t>', '</a:t>
            </a:r>
            <a:r>
              <a:rPr lang="en-IN" sz="1100" dirty="0" err="1">
                <a:latin typeface="Sitka Display Semibold" pitchFamily="2" charset="0"/>
              </a:rPr>
              <a:t>val_month_sin</a:t>
            </a:r>
            <a:r>
              <a:rPr lang="en-IN" sz="1100" dirty="0">
                <a:latin typeface="Sitka Display Semibold" pitchFamily="2" charset="0"/>
              </a:rPr>
              <a:t>', '</a:t>
            </a:r>
            <a:r>
              <a:rPr lang="en-IN" sz="1100" dirty="0" err="1">
                <a:latin typeface="Sitka Display Semibold" pitchFamily="2" charset="0"/>
              </a:rPr>
              <a:t>val_month_cos</a:t>
            </a:r>
            <a:r>
              <a:rPr lang="en-IN" sz="1100" dirty="0">
                <a:latin typeface="Sitka Display Semibold" pitchFamily="2" charset="0"/>
              </a:rPr>
              <a:t>’]</a:t>
            </a:r>
          </a:p>
          <a:p>
            <a:pPr>
              <a:lnSpc>
                <a:spcPct val="110000"/>
              </a:lnSpc>
            </a:pPr>
            <a:r>
              <a:rPr lang="en-IN" sz="1100" dirty="0" err="1">
                <a:latin typeface="Sitka Display Semibold" pitchFamily="2" charset="0"/>
              </a:rPr>
              <a:t>useless_text_columns</a:t>
            </a:r>
            <a:r>
              <a:rPr lang="en-IN" sz="1100" dirty="0">
                <a:latin typeface="Sitka Display Semibold" pitchFamily="2" charset="0"/>
              </a:rPr>
              <a:t> = ['id', 'location', '</a:t>
            </a:r>
            <a:r>
              <a:rPr lang="en-IN" sz="1100" dirty="0" err="1">
                <a:latin typeface="Sitka Display Semibold" pitchFamily="2" charset="0"/>
              </a:rPr>
              <a:t>vehicle_number</a:t>
            </a:r>
            <a:r>
              <a:rPr lang="en-IN" sz="1100" dirty="0">
                <a:latin typeface="Sitka Display Semibold" pitchFamily="2" charset="0"/>
              </a:rPr>
              <a:t>’]</a:t>
            </a:r>
          </a:p>
          <a:p>
            <a:pPr>
              <a:lnSpc>
                <a:spcPct val="110000"/>
              </a:lnSpc>
            </a:pPr>
            <a:r>
              <a:rPr lang="en-IN" sz="1100" dirty="0">
                <a:latin typeface="Sitka Display Semibold" pitchFamily="2" charset="0"/>
              </a:rPr>
              <a:t>X = </a:t>
            </a:r>
            <a:r>
              <a:rPr lang="en-IN" sz="1100" dirty="0" err="1">
                <a:latin typeface="Sitka Display Semibold" pitchFamily="2" charset="0"/>
              </a:rPr>
              <a:t>df.drop</a:t>
            </a:r>
            <a:r>
              <a:rPr lang="en-IN" sz="1100" dirty="0">
                <a:latin typeface="Sitka Display Semibold" pitchFamily="2" charset="0"/>
              </a:rPr>
              <a:t>(columns=</a:t>
            </a:r>
            <a:r>
              <a:rPr lang="en-IN" sz="1100" dirty="0" err="1">
                <a:latin typeface="Sitka Display Semibold" pitchFamily="2" charset="0"/>
              </a:rPr>
              <a:t>leaky_columns</a:t>
            </a:r>
            <a:r>
              <a:rPr lang="en-IN" sz="1100" dirty="0">
                <a:latin typeface="Sitka Display Semibold" pitchFamily="2" charset="0"/>
              </a:rPr>
              <a:t> + </a:t>
            </a:r>
            <a:r>
              <a:rPr lang="en-IN" sz="1100" dirty="0" err="1">
                <a:latin typeface="Sitka Display Semibold" pitchFamily="2" charset="0"/>
              </a:rPr>
              <a:t>useless_text_columns</a:t>
            </a:r>
            <a:r>
              <a:rPr lang="en-IN" sz="1100" dirty="0">
                <a:latin typeface="Sitka Display Semibold" pitchFamily="2" charset="0"/>
              </a:rPr>
              <a:t>, errors='ignore’)”</a:t>
            </a:r>
          </a:p>
          <a:p>
            <a:pPr>
              <a:lnSpc>
                <a:spcPct val="110000"/>
              </a:lnSpc>
            </a:pPr>
            <a:r>
              <a:rPr lang="en-IN" sz="1100" dirty="0">
                <a:latin typeface="Sitka Display "/>
              </a:rPr>
              <a:t>The validation columns are dropped preventing Data Leakage by Omitting Target Outputs and vehicle number is dropped to prevent model from memorizing the violation according to specific vehicles.</a:t>
            </a:r>
          </a:p>
          <a:p>
            <a:pPr>
              <a:lnSpc>
                <a:spcPct val="110000"/>
              </a:lnSpc>
            </a:pPr>
            <a:r>
              <a:rPr lang="en-IN" sz="1100" dirty="0">
                <a:latin typeface="Sitka Display "/>
              </a:rPr>
              <a:t>Dropping all these columns is an effort to make this model more generalized and more centred towards locality, vehicle type and month, date, time .</a:t>
            </a:r>
          </a:p>
          <a:p>
            <a:pPr>
              <a:lnSpc>
                <a:spcPct val="110000"/>
              </a:lnSpc>
            </a:pPr>
            <a:endParaRPr lang="en-IN" sz="1100" dirty="0"/>
          </a:p>
        </p:txBody>
      </p:sp>
      <p:cxnSp>
        <p:nvCxnSpPr>
          <p:cNvPr id="11" name="Straight Connector 10">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01067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59451AA-A22C-E8AA-8978-F93045723B89}"/>
              </a:ext>
            </a:extLst>
          </p:cNvPr>
          <p:cNvSpPr>
            <a:spLocks noGrp="1"/>
          </p:cNvSpPr>
          <p:nvPr>
            <p:ph type="title"/>
          </p:nvPr>
        </p:nvSpPr>
        <p:spPr>
          <a:xfrm>
            <a:off x="640080" y="914399"/>
            <a:ext cx="10847494" cy="1171069"/>
          </a:xfrm>
        </p:spPr>
        <p:txBody>
          <a:bodyPr anchor="t">
            <a:normAutofit/>
          </a:bodyPr>
          <a:lstStyle/>
          <a:p>
            <a:pPr>
              <a:lnSpc>
                <a:spcPct val="90000"/>
              </a:lnSpc>
            </a:pPr>
            <a:r>
              <a:rPr lang="en-IN" sz="3700" dirty="0">
                <a:latin typeface="Sitka Small Semibold" pitchFamily="2" charset="0"/>
              </a:rPr>
              <a:t>Training and </a:t>
            </a:r>
            <a:r>
              <a:rPr lang="en-IN" sz="3700" dirty="0" err="1">
                <a:latin typeface="Sitka Small Semibold" pitchFamily="2" charset="0"/>
              </a:rPr>
              <a:t>Impelementing</a:t>
            </a:r>
            <a:r>
              <a:rPr lang="en-IN" sz="3700" dirty="0">
                <a:latin typeface="Sitka Small Semibold" pitchFamily="2" charset="0"/>
              </a:rPr>
              <a:t> a </a:t>
            </a:r>
            <a:r>
              <a:rPr lang="en-IN" sz="3700" dirty="0" err="1">
                <a:latin typeface="Sitka Small Semibold" pitchFamily="2" charset="0"/>
              </a:rPr>
              <a:t>CatBoostModel</a:t>
            </a:r>
            <a:endParaRPr lang="en-IN" sz="3700" dirty="0"/>
          </a:p>
        </p:txBody>
      </p:sp>
      <p:pic>
        <p:nvPicPr>
          <p:cNvPr id="4" name="Picture 3" descr="What Is a Regression Model? | Perforce Software">
            <a:extLst>
              <a:ext uri="{FF2B5EF4-FFF2-40B4-BE49-F238E27FC236}">
                <a16:creationId xmlns:a16="http://schemas.microsoft.com/office/drawing/2014/main" id="{108DDED9-3B2A-5DEA-21B4-15AAA7B1C5A1}"/>
              </a:ext>
            </a:extLst>
          </p:cNvPr>
          <p:cNvPicPr>
            <a:picLocks noChangeAspect="1"/>
          </p:cNvPicPr>
          <p:nvPr/>
        </p:nvPicPr>
        <p:blipFill>
          <a:blip r:embed="rId2"/>
          <a:stretch>
            <a:fillRect/>
          </a:stretch>
        </p:blipFill>
        <p:spPr>
          <a:xfrm>
            <a:off x="713232" y="2256287"/>
            <a:ext cx="5635537" cy="3760459"/>
          </a:xfrm>
          <a:prstGeom prst="rect">
            <a:avLst/>
          </a:prstGeom>
        </p:spPr>
      </p:pic>
      <p:sp>
        <p:nvSpPr>
          <p:cNvPr id="3" name="Content Placeholder 2">
            <a:extLst>
              <a:ext uri="{FF2B5EF4-FFF2-40B4-BE49-F238E27FC236}">
                <a16:creationId xmlns:a16="http://schemas.microsoft.com/office/drawing/2014/main" id="{4244DC08-F7F2-A505-FDD6-664375BD4A9D}"/>
              </a:ext>
            </a:extLst>
          </p:cNvPr>
          <p:cNvSpPr>
            <a:spLocks noGrp="1"/>
          </p:cNvSpPr>
          <p:nvPr>
            <p:ph idx="1"/>
          </p:nvPr>
        </p:nvSpPr>
        <p:spPr>
          <a:xfrm>
            <a:off x="6915150" y="2256287"/>
            <a:ext cx="4563618" cy="3760459"/>
          </a:xfrm>
        </p:spPr>
        <p:txBody>
          <a:bodyPr anchor="t">
            <a:normAutofit/>
          </a:bodyPr>
          <a:lstStyle/>
          <a:p>
            <a:pPr>
              <a:lnSpc>
                <a:spcPct val="110000"/>
              </a:lnSpc>
            </a:pPr>
            <a:r>
              <a:rPr lang="en-IN" sz="1100" dirty="0" err="1">
                <a:latin typeface="Sitka Display Semibold" pitchFamily="2" charset="0"/>
              </a:rPr>
              <a:t>cb_model</a:t>
            </a:r>
            <a:r>
              <a:rPr lang="en-IN" sz="1100" dirty="0">
                <a:latin typeface="Sitka Display Semibold" pitchFamily="2" charset="0"/>
              </a:rPr>
              <a:t> = </a:t>
            </a:r>
            <a:r>
              <a:rPr lang="en-IN" sz="1100" dirty="0" err="1">
                <a:latin typeface="Sitka Display Semibold" pitchFamily="2" charset="0"/>
              </a:rPr>
              <a:t>CatBoostClassifier</a:t>
            </a:r>
            <a:r>
              <a:rPr lang="en-IN" sz="1100" dirty="0">
                <a:latin typeface="Sitka Display Semibold" pitchFamily="2" charset="0"/>
              </a:rPr>
              <a:t>(</a:t>
            </a:r>
            <a:r>
              <a:rPr lang="en-IN" sz="1100" dirty="0" err="1">
                <a:latin typeface="Sitka Display Semibold" pitchFamily="2" charset="0"/>
              </a:rPr>
              <a:t>cat_features</a:t>
            </a:r>
            <a:r>
              <a:rPr lang="en-IN" sz="1100" dirty="0">
                <a:latin typeface="Sitka Display Semibold" pitchFamily="2" charset="0"/>
              </a:rPr>
              <a:t> = </a:t>
            </a:r>
            <a:r>
              <a:rPr lang="en-IN" sz="1100" dirty="0" err="1">
                <a:latin typeface="Sitka Display Semibold" pitchFamily="2" charset="0"/>
              </a:rPr>
              <a:t>categorical_cols</a:t>
            </a:r>
            <a:r>
              <a:rPr lang="en-IN" sz="1100" dirty="0">
                <a:latin typeface="Sitka Display Semibold" pitchFamily="2" charset="0"/>
              </a:rPr>
              <a:t>, iterations=500,depth=6, </a:t>
            </a:r>
            <a:r>
              <a:rPr lang="en-IN" sz="1100" dirty="0" err="1">
                <a:latin typeface="Sitka Display Semibold" pitchFamily="2" charset="0"/>
              </a:rPr>
              <a:t>learning_rate</a:t>
            </a:r>
            <a:r>
              <a:rPr lang="en-IN" sz="1100" dirty="0">
                <a:latin typeface="Sitka Display Semibold" pitchFamily="2" charset="0"/>
              </a:rPr>
              <a:t>=0.1, verbose=50)</a:t>
            </a:r>
          </a:p>
          <a:p>
            <a:pPr>
              <a:lnSpc>
                <a:spcPct val="110000"/>
              </a:lnSpc>
            </a:pPr>
            <a:r>
              <a:rPr lang="en-IN" sz="1100" dirty="0" err="1">
                <a:latin typeface="Sitka Display "/>
              </a:rPr>
              <a:t>CatBoost</a:t>
            </a:r>
            <a:r>
              <a:rPr lang="en-IN" sz="1100" dirty="0">
                <a:latin typeface="Sitka Display "/>
              </a:rPr>
              <a:t> Model is used so that it does not require one-hot encoding of category columns instead it handles categorical strings natively using Ordered Target Statistics. This feature is important because already our data has pretty large number of columns and rows, One-hot encoding increases data unnecessarily </a:t>
            </a:r>
            <a:r>
              <a:rPr lang="en-IN" sz="1100" dirty="0" err="1">
                <a:latin typeface="Sitka Display "/>
              </a:rPr>
              <a:t>inturn</a:t>
            </a:r>
            <a:r>
              <a:rPr lang="en-IN" sz="1100" dirty="0">
                <a:latin typeface="Sitka Display "/>
              </a:rPr>
              <a:t> increasing processing time.</a:t>
            </a:r>
          </a:p>
          <a:p>
            <a:pPr>
              <a:lnSpc>
                <a:spcPct val="110000"/>
              </a:lnSpc>
            </a:pPr>
            <a:r>
              <a:rPr lang="en-IN" sz="1100" dirty="0">
                <a:latin typeface="Sitka Display "/>
              </a:rPr>
              <a:t>The depth is kept at 6 so that the model only learns the general features of the dataset. Increasing the depth, the model starts memorizing specific traffic violations incidents.</a:t>
            </a:r>
          </a:p>
          <a:p>
            <a:pPr>
              <a:lnSpc>
                <a:spcPct val="110000"/>
              </a:lnSpc>
            </a:pPr>
            <a:r>
              <a:rPr lang="en-IN" sz="1100" dirty="0">
                <a:latin typeface="Sitka Display "/>
              </a:rPr>
              <a:t>Iterations and learning rate are kept such that the model takes minimal time and space so as to compute the validation of any complaint uploaded to it.</a:t>
            </a:r>
          </a:p>
          <a:p>
            <a:pPr>
              <a:lnSpc>
                <a:spcPct val="110000"/>
              </a:lnSpc>
            </a:pPr>
            <a:r>
              <a:rPr lang="en-IN" sz="1100" dirty="0">
                <a:latin typeface="Sitka Display "/>
              </a:rPr>
              <a:t>By capping the trees at 500, we guarantee the compiled model size is tiny (under 5MB) and the prediction happens in under 10 milliseconds.</a:t>
            </a:r>
          </a:p>
          <a:p>
            <a:pPr>
              <a:lnSpc>
                <a:spcPct val="110000"/>
              </a:lnSpc>
            </a:pPr>
            <a:endParaRPr lang="en-IN" sz="1100" dirty="0"/>
          </a:p>
        </p:txBody>
      </p:sp>
      <p:cxnSp>
        <p:nvCxnSpPr>
          <p:cNvPr id="11" name="Straight Connector 10">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01896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19EC159-53FF-9052-1EBD-B0D44ABB6969}"/>
              </a:ext>
            </a:extLst>
          </p:cNvPr>
          <p:cNvSpPr>
            <a:spLocks noGrp="1"/>
          </p:cNvSpPr>
          <p:nvPr>
            <p:ph type="title"/>
          </p:nvPr>
        </p:nvSpPr>
        <p:spPr/>
        <p:txBody>
          <a:bodyPr/>
          <a:lstStyle/>
          <a:p>
            <a:pPr algn="ctr"/>
            <a:r>
              <a:rPr lang="en-IN" sz="3600" dirty="0">
                <a:latin typeface="Sitka Small Semibold" pitchFamily="2" charset="0"/>
              </a:rPr>
              <a:t>Output of CatBoost Model</a:t>
            </a:r>
          </a:p>
        </p:txBody>
      </p:sp>
      <p:pic>
        <p:nvPicPr>
          <p:cNvPr id="7" name="Content Placeholder 6" descr="The image shows a terminal session in progress, executing a Python script named 'Traffic_Management_Rudra.py' on a Windows machine, which is processing and training a machine learning model, specifically CatBoost, with the dataset 'Cleaned_Data_V2.csv'.&#10;&#10;AI-generated content may be incorrect.">
            <a:extLst>
              <a:ext uri="{FF2B5EF4-FFF2-40B4-BE49-F238E27FC236}">
                <a16:creationId xmlns:a16="http://schemas.microsoft.com/office/drawing/2014/main" id="{5B168687-6DDF-C9EF-A56F-270B4D12D984}"/>
              </a:ext>
            </a:extLst>
          </p:cNvPr>
          <p:cNvPicPr>
            <a:picLocks noGrp="1" noChangeAspect="1"/>
          </p:cNvPicPr>
          <p:nvPr>
            <p:ph idx="1"/>
          </p:nvPr>
        </p:nvPicPr>
        <p:blipFill>
          <a:blip r:embed="rId2"/>
          <a:stretch>
            <a:fillRect/>
          </a:stretch>
        </p:blipFill>
        <p:spPr>
          <a:xfrm>
            <a:off x="926307" y="2589087"/>
            <a:ext cx="10339385" cy="3600065"/>
          </a:xfrm>
          <a:prstGeom prst="rect">
            <a:avLst/>
          </a:prstGeom>
        </p:spPr>
      </p:pic>
    </p:spTree>
    <p:extLst>
      <p:ext uri="{BB962C8B-B14F-4D97-AF65-F5344CB8AC3E}">
        <p14:creationId xmlns:p14="http://schemas.microsoft.com/office/powerpoint/2010/main" val="1116019562"/>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78A84C-C3B8-B231-D665-272A9F93F94C}"/>
              </a:ext>
            </a:extLst>
          </p:cNvPr>
          <p:cNvSpPr>
            <a:spLocks noGrp="1"/>
          </p:cNvSpPr>
          <p:nvPr>
            <p:ph type="title"/>
          </p:nvPr>
        </p:nvSpPr>
        <p:spPr>
          <a:xfrm>
            <a:off x="640080" y="914399"/>
            <a:ext cx="10847494" cy="1171069"/>
          </a:xfrm>
        </p:spPr>
        <p:txBody>
          <a:bodyPr anchor="t">
            <a:normAutofit/>
          </a:bodyPr>
          <a:lstStyle/>
          <a:p>
            <a:r>
              <a:rPr lang="en-IN" dirty="0">
                <a:latin typeface="Sitka Display Semibold" pitchFamily="2" charset="0"/>
              </a:rPr>
              <a:t>Overview of the Application Prototype</a:t>
            </a:r>
          </a:p>
        </p:txBody>
      </p:sp>
      <p:pic>
        <p:nvPicPr>
          <p:cNvPr id="5" name="Picture 4" descr="GridLock 2.0 is an urban traffic and last-mile delivery optimization platform, featuring a police command center, a Flipkart logistics API, and machine learning algorithms for efficient traffic management and routing.&#10;&#10;AI-generated content may be incorrect.">
            <a:extLst>
              <a:ext uri="{FF2B5EF4-FFF2-40B4-BE49-F238E27FC236}">
                <a16:creationId xmlns:a16="http://schemas.microsoft.com/office/drawing/2014/main" id="{9259D5D1-B7C9-EAF7-D099-F340753D6443}"/>
              </a:ext>
            </a:extLst>
          </p:cNvPr>
          <p:cNvPicPr>
            <a:picLocks noChangeAspect="1"/>
          </p:cNvPicPr>
          <p:nvPr/>
        </p:nvPicPr>
        <p:blipFill>
          <a:blip r:embed="rId2"/>
          <a:stretch>
            <a:fillRect/>
          </a:stretch>
        </p:blipFill>
        <p:spPr>
          <a:xfrm>
            <a:off x="713232" y="2512661"/>
            <a:ext cx="5648193" cy="3247711"/>
          </a:xfrm>
          <a:prstGeom prst="rect">
            <a:avLst/>
          </a:prstGeom>
        </p:spPr>
      </p:pic>
      <p:sp>
        <p:nvSpPr>
          <p:cNvPr id="3" name="Content Placeholder 2">
            <a:extLst>
              <a:ext uri="{FF2B5EF4-FFF2-40B4-BE49-F238E27FC236}">
                <a16:creationId xmlns:a16="http://schemas.microsoft.com/office/drawing/2014/main" id="{C858B38C-AB3B-96CC-B35C-9C396F635A7F}"/>
              </a:ext>
            </a:extLst>
          </p:cNvPr>
          <p:cNvSpPr>
            <a:spLocks noGrp="1"/>
          </p:cNvSpPr>
          <p:nvPr>
            <p:ph idx="1"/>
          </p:nvPr>
        </p:nvSpPr>
        <p:spPr>
          <a:xfrm>
            <a:off x="6915150" y="2256287"/>
            <a:ext cx="4563618" cy="3760459"/>
          </a:xfrm>
        </p:spPr>
        <p:txBody>
          <a:bodyPr anchor="t">
            <a:normAutofit/>
          </a:bodyPr>
          <a:lstStyle/>
          <a:p>
            <a:pPr>
              <a:lnSpc>
                <a:spcPct val="110000"/>
              </a:lnSpc>
            </a:pPr>
            <a:r>
              <a:rPr lang="en-IN" sz="1100" b="1" dirty="0">
                <a:latin typeface="Sitka Display Semibold" pitchFamily="2" charset="0"/>
              </a:rPr>
              <a:t>Model Initialization (@st.cache_resource):</a:t>
            </a:r>
            <a:r>
              <a:rPr lang="en-IN" sz="1100" dirty="0">
                <a:latin typeface="Sitka Display Semibold" pitchFamily="2" charset="0"/>
              </a:rPr>
              <a:t> </a:t>
            </a:r>
            <a:r>
              <a:rPr lang="en-IN" sz="1100" dirty="0">
                <a:latin typeface="Sitka Display" pitchFamily="2" charset="0"/>
              </a:rPr>
              <a:t>The compiled </a:t>
            </a:r>
            <a:r>
              <a:rPr lang="en-IN" sz="1100" dirty="0" err="1">
                <a:latin typeface="Sitka Display" pitchFamily="2" charset="0"/>
              </a:rPr>
              <a:t>CatBoost</a:t>
            </a:r>
            <a:r>
              <a:rPr lang="en-IN" sz="1100" dirty="0">
                <a:latin typeface="Sitka Display" pitchFamily="2" charset="0"/>
              </a:rPr>
              <a:t> model is loaded (</a:t>
            </a:r>
            <a:r>
              <a:rPr lang="en-IN" sz="1100" dirty="0" err="1">
                <a:latin typeface="Sitka Display" pitchFamily="2" charset="0"/>
              </a:rPr>
              <a:t>traffic_management_model_Rudra.cbm</a:t>
            </a:r>
            <a:r>
              <a:rPr lang="en-IN" sz="1100" dirty="0">
                <a:latin typeface="Sitka Display" pitchFamily="2" charset="0"/>
              </a:rPr>
              <a:t>) into a cached resource. This ensures the heavy model weights are loaded into the server's RAM only once upon startup, completely eliminating latency when a dispatcher requests a new prediction.</a:t>
            </a:r>
          </a:p>
          <a:p>
            <a:pPr>
              <a:lnSpc>
                <a:spcPct val="110000"/>
              </a:lnSpc>
            </a:pPr>
            <a:r>
              <a:rPr lang="en-IN" sz="1100" b="1" dirty="0">
                <a:latin typeface="Sitka Display Semibold" pitchFamily="2" charset="0"/>
              </a:rPr>
              <a:t>Dynamic Data Hydration (@st.cache_data): </a:t>
            </a:r>
            <a:r>
              <a:rPr lang="en-IN" sz="1100" dirty="0">
                <a:latin typeface="Sitka Display" pitchFamily="2" charset="0"/>
              </a:rPr>
              <a:t>Rather than hardcoding dropdown menus, the app dynamically reads the unique </a:t>
            </a:r>
            <a:r>
              <a:rPr lang="en-IN" sz="1100" dirty="0" err="1">
                <a:latin typeface="Sitka Display" pitchFamily="2" charset="0"/>
              </a:rPr>
              <a:t>police_station</a:t>
            </a:r>
            <a:r>
              <a:rPr lang="en-IN" sz="1100" dirty="0">
                <a:latin typeface="Sitka Display" pitchFamily="2" charset="0"/>
              </a:rPr>
              <a:t> and </a:t>
            </a:r>
            <a:r>
              <a:rPr lang="en-IN" sz="1100" dirty="0" err="1">
                <a:latin typeface="Sitka Display" pitchFamily="2" charset="0"/>
              </a:rPr>
              <a:t>junction_name</a:t>
            </a:r>
            <a:r>
              <a:rPr lang="en-IN" sz="1100" dirty="0">
                <a:latin typeface="Sitka Display" pitchFamily="2" charset="0"/>
              </a:rPr>
              <a:t> values directly from the cleaned dataset. This makes the application scalable; if new jurisdictions are added to the CSV, the UI updates automatically without requiring code changes.</a:t>
            </a:r>
          </a:p>
          <a:p>
            <a:pPr>
              <a:lnSpc>
                <a:spcPct val="110000"/>
              </a:lnSpc>
            </a:pPr>
            <a:r>
              <a:rPr lang="en-IN" sz="1100" b="1" dirty="0">
                <a:latin typeface="Sitka Display Semibold" pitchFamily="2" charset="0"/>
              </a:rPr>
              <a:t>Reverse Trigonometry: </a:t>
            </a:r>
            <a:r>
              <a:rPr lang="en-IN" sz="1100" dirty="0">
                <a:latin typeface="Sitka Display" pitchFamily="2" charset="0"/>
              </a:rPr>
              <a:t>For the logistics dashboard, you engineered a function that takes the mathematically transformed cyclical variables (</a:t>
            </a:r>
            <a:r>
              <a:rPr lang="en-IN" sz="1100" dirty="0" err="1">
                <a:latin typeface="Sitka Display" pitchFamily="2" charset="0"/>
              </a:rPr>
              <a:t>time_sin</a:t>
            </a:r>
            <a:r>
              <a:rPr lang="en-IN" sz="1100" dirty="0">
                <a:latin typeface="Sitka Display" pitchFamily="2" charset="0"/>
              </a:rPr>
              <a:t>, </a:t>
            </a:r>
            <a:r>
              <a:rPr lang="en-IN" sz="1100" dirty="0" err="1">
                <a:latin typeface="Sitka Display" pitchFamily="2" charset="0"/>
              </a:rPr>
              <a:t>time_cos</a:t>
            </a:r>
            <a:r>
              <a:rPr lang="en-IN" sz="1100" dirty="0">
                <a:latin typeface="Sitka Display" pitchFamily="2" charset="0"/>
              </a:rPr>
              <a:t>) and applies reverse trigonometry (np.arctan2) to translate them back into human-readable hours, days, and months.</a:t>
            </a:r>
          </a:p>
          <a:p>
            <a:pPr>
              <a:lnSpc>
                <a:spcPct val="110000"/>
              </a:lnSpc>
            </a:pPr>
            <a:endParaRPr lang="en-IN" sz="1100" dirty="0"/>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106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0AF170-B042-9BDC-48CA-7E4833702C9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1CC0C8-BCC6-2F7E-04D2-0FD0C4CEED6E}"/>
              </a:ext>
            </a:extLst>
          </p:cNvPr>
          <p:cNvSpPr>
            <a:spLocks noGrp="1"/>
          </p:cNvSpPr>
          <p:nvPr>
            <p:ph type="title"/>
          </p:nvPr>
        </p:nvSpPr>
        <p:spPr>
          <a:xfrm>
            <a:off x="640079" y="914400"/>
            <a:ext cx="4261104" cy="1097280"/>
          </a:xfrm>
        </p:spPr>
        <p:txBody>
          <a:bodyPr anchor="t">
            <a:normAutofit/>
          </a:bodyPr>
          <a:lstStyle/>
          <a:p>
            <a:r>
              <a:rPr lang="en-IN" sz="3300" dirty="0">
                <a:latin typeface="Sitka Display Semibold" pitchFamily="2" charset="0"/>
              </a:rPr>
              <a:t>Overview of the Application Prototype</a:t>
            </a:r>
          </a:p>
        </p:txBody>
      </p:sp>
      <p:sp>
        <p:nvSpPr>
          <p:cNvPr id="3" name="Content Placeholder 2">
            <a:extLst>
              <a:ext uri="{FF2B5EF4-FFF2-40B4-BE49-F238E27FC236}">
                <a16:creationId xmlns:a16="http://schemas.microsoft.com/office/drawing/2014/main" id="{677150D5-4CBE-E1DC-DEDB-B33CF66B5474}"/>
              </a:ext>
            </a:extLst>
          </p:cNvPr>
          <p:cNvSpPr>
            <a:spLocks noGrp="1"/>
          </p:cNvSpPr>
          <p:nvPr>
            <p:ph idx="1"/>
          </p:nvPr>
        </p:nvSpPr>
        <p:spPr>
          <a:xfrm>
            <a:off x="640079" y="2176036"/>
            <a:ext cx="4261104" cy="4121887"/>
          </a:xfrm>
        </p:spPr>
        <p:txBody>
          <a:bodyPr>
            <a:normAutofit/>
          </a:bodyPr>
          <a:lstStyle/>
          <a:p>
            <a:pPr>
              <a:lnSpc>
                <a:spcPct val="110000"/>
              </a:lnSpc>
            </a:pPr>
            <a:r>
              <a:rPr lang="en-IN" sz="1400" dirty="0">
                <a:latin typeface="Sitka Display" pitchFamily="2" charset="0"/>
              </a:rPr>
              <a:t>To bridge the gap between human input and mathematical coordinates, you integrated an external geocoding service.</a:t>
            </a:r>
          </a:p>
          <a:p>
            <a:pPr>
              <a:lnSpc>
                <a:spcPct val="110000"/>
              </a:lnSpc>
            </a:pPr>
            <a:r>
              <a:rPr lang="en-IN" sz="1400" dirty="0">
                <a:latin typeface="Sitka Display Semibold" pitchFamily="2" charset="0"/>
              </a:rPr>
              <a:t>ArcGIS Integration: </a:t>
            </a:r>
            <a:r>
              <a:rPr lang="en-IN" sz="1400" dirty="0">
                <a:latin typeface="Sitka Display" pitchFamily="2" charset="0"/>
              </a:rPr>
              <a:t>You utilized the </a:t>
            </a:r>
            <a:r>
              <a:rPr lang="en-IN" sz="1400" dirty="0" err="1">
                <a:latin typeface="Sitka Display" pitchFamily="2" charset="0"/>
              </a:rPr>
              <a:t>geopy</a:t>
            </a:r>
            <a:r>
              <a:rPr lang="en-IN" sz="1400" dirty="0">
                <a:latin typeface="Sitka Display" pitchFamily="2" charset="0"/>
              </a:rPr>
              <a:t> library to tap into the ArcGIS API. When a traffic officer enters a text-based address (e.g., "18th Main Road, Koramangala"), the system sends a cascading series of queries to the API, falling back to broader queries if the exact street is not found.</a:t>
            </a:r>
          </a:p>
          <a:p>
            <a:pPr>
              <a:lnSpc>
                <a:spcPct val="110000"/>
              </a:lnSpc>
            </a:pPr>
            <a:r>
              <a:rPr lang="en-IN" sz="1400" dirty="0">
                <a:latin typeface="Sitka Display Semibold" pitchFamily="2" charset="0"/>
              </a:rPr>
              <a:t>State Management: </a:t>
            </a:r>
            <a:r>
              <a:rPr lang="en-IN" sz="1400" dirty="0">
                <a:latin typeface="Sitka Display" pitchFamily="2" charset="0"/>
              </a:rPr>
              <a:t>The resulting latitude and longitude coordinates are injected into </a:t>
            </a:r>
            <a:r>
              <a:rPr lang="en-IN" sz="1400" dirty="0" err="1">
                <a:latin typeface="Sitka Display" pitchFamily="2" charset="0"/>
              </a:rPr>
              <a:t>Streamlit's</a:t>
            </a:r>
            <a:r>
              <a:rPr lang="en-IN" sz="1400" dirty="0">
                <a:latin typeface="Sitka Display" pitchFamily="2" charset="0"/>
              </a:rPr>
              <a:t> </a:t>
            </a:r>
            <a:r>
              <a:rPr lang="en-IN" sz="1400" dirty="0" err="1">
                <a:latin typeface="Sitka Display" pitchFamily="2" charset="0"/>
              </a:rPr>
              <a:t>st.session_state</a:t>
            </a:r>
            <a:r>
              <a:rPr lang="en-IN" sz="1400" dirty="0">
                <a:latin typeface="Sitka Display" pitchFamily="2" charset="0"/>
              </a:rPr>
              <a:t>. This ensures the coordinates persist across the application, allowing the user to seamlessly transition from geocoding to the ML execution pipeline without losing their location data.</a:t>
            </a:r>
          </a:p>
        </p:txBody>
      </p:sp>
      <p:pic>
        <p:nvPicPr>
          <p:cNvPr id="4" name="Picture 3" descr="Cool maps by GIS Cloud Users | GIS Cloud">
            <a:extLst>
              <a:ext uri="{FF2B5EF4-FFF2-40B4-BE49-F238E27FC236}">
                <a16:creationId xmlns:a16="http://schemas.microsoft.com/office/drawing/2014/main" id="{E10F01E5-FC0B-0E77-9F06-C32D51F08AF8}"/>
              </a:ext>
            </a:extLst>
          </p:cNvPr>
          <p:cNvPicPr>
            <a:picLocks noChangeAspect="1"/>
          </p:cNvPicPr>
          <p:nvPr/>
        </p:nvPicPr>
        <p:blipFill>
          <a:blip r:embed="rId2"/>
          <a:srcRect l="11699" t="12857" r="13390" b="-2"/>
          <a:stretch>
            <a:fillRect/>
          </a:stretch>
        </p:blipFill>
        <p:spPr>
          <a:xfrm>
            <a:off x="5661296" y="1592826"/>
            <a:ext cx="6520872" cy="4665262"/>
          </a:xfrm>
          <a:prstGeom prst="rect">
            <a:avLst/>
          </a:prstGeom>
        </p:spPr>
      </p:pic>
      <p:cxnSp>
        <p:nvCxnSpPr>
          <p:cNvPr id="11" name="Straight Connector 10">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0006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4F6D81E-D52B-BE37-2C9A-E6935C3837F2}"/>
              </a:ext>
            </a:extLst>
          </p:cNvPr>
          <p:cNvSpPr>
            <a:spLocks noGrp="1"/>
          </p:cNvSpPr>
          <p:nvPr>
            <p:ph type="title"/>
          </p:nvPr>
        </p:nvSpPr>
        <p:spPr>
          <a:xfrm>
            <a:off x="640080" y="1371600"/>
            <a:ext cx="10890928" cy="971550"/>
          </a:xfrm>
        </p:spPr>
        <p:txBody>
          <a:bodyPr anchor="t">
            <a:normAutofit/>
          </a:bodyPr>
          <a:lstStyle/>
          <a:p>
            <a:r>
              <a:rPr lang="en-IN" b="0" dirty="0"/>
              <a:t>🚨 </a:t>
            </a:r>
            <a:r>
              <a:rPr lang="en-IN" dirty="0">
                <a:latin typeface="Sitka Small Semibold" pitchFamily="2" charset="0"/>
              </a:rPr>
              <a:t>Engine 1: Police Command </a:t>
            </a:r>
            <a:r>
              <a:rPr lang="en-IN" dirty="0" err="1">
                <a:latin typeface="Sitka Small Semibold" pitchFamily="2" charset="0"/>
              </a:rPr>
              <a:t>Center</a:t>
            </a:r>
            <a:endParaRPr lang="en-IN" dirty="0"/>
          </a:p>
        </p:txBody>
      </p:sp>
      <p:cxnSp>
        <p:nvCxnSpPr>
          <p:cNvPr id="15" name="Straight Connector 14">
            <a:extLst>
              <a:ext uri="{FF2B5EF4-FFF2-40B4-BE49-F238E27FC236}">
                <a16:creationId xmlns:a16="http://schemas.microsoft.com/office/drawing/2014/main" id="{39AA7464-1EB7-A869-C7D3-AA680BBA98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descr="The image is a dashboard displaying an incident report with details including vehicle information, violation flags, location data, and related geographical tags, all related to a parking violation in Bengaluru.&#10;&#10;AI-generated content may be incorrect.">
            <a:extLst>
              <a:ext uri="{FF2B5EF4-FFF2-40B4-BE49-F238E27FC236}">
                <a16:creationId xmlns:a16="http://schemas.microsoft.com/office/drawing/2014/main" id="{C4FF2E50-E89D-31EA-6898-3415A0EA8007}"/>
              </a:ext>
            </a:extLst>
          </p:cNvPr>
          <p:cNvPicPr>
            <a:picLocks noChangeAspect="1"/>
          </p:cNvPicPr>
          <p:nvPr/>
        </p:nvPicPr>
        <p:blipFill>
          <a:blip r:embed="rId2"/>
          <a:stretch>
            <a:fillRect/>
          </a:stretch>
        </p:blipFill>
        <p:spPr>
          <a:xfrm>
            <a:off x="640080" y="2683748"/>
            <a:ext cx="5992368" cy="3475572"/>
          </a:xfrm>
          <a:prstGeom prst="rect">
            <a:avLst/>
          </a:prstGeom>
        </p:spPr>
      </p:pic>
      <p:sp>
        <p:nvSpPr>
          <p:cNvPr id="3" name="Content Placeholder 2">
            <a:extLst>
              <a:ext uri="{FF2B5EF4-FFF2-40B4-BE49-F238E27FC236}">
                <a16:creationId xmlns:a16="http://schemas.microsoft.com/office/drawing/2014/main" id="{0C9B55FA-F244-6778-4350-1A0592BFA06E}"/>
              </a:ext>
            </a:extLst>
          </p:cNvPr>
          <p:cNvSpPr>
            <a:spLocks noGrp="1"/>
          </p:cNvSpPr>
          <p:nvPr>
            <p:ph idx="1"/>
          </p:nvPr>
        </p:nvSpPr>
        <p:spPr>
          <a:xfrm>
            <a:off x="6751755" y="2537460"/>
            <a:ext cx="5320937" cy="4320540"/>
          </a:xfrm>
        </p:spPr>
        <p:txBody>
          <a:bodyPr anchor="t">
            <a:normAutofit lnSpcReduction="10000"/>
          </a:bodyPr>
          <a:lstStyle/>
          <a:p>
            <a:pPr>
              <a:lnSpc>
                <a:spcPct val="110000"/>
              </a:lnSpc>
            </a:pPr>
            <a:r>
              <a:rPr lang="en-IN" sz="1200" dirty="0">
                <a:latin typeface="Sitka Display Semibold" pitchFamily="2" charset="0"/>
              </a:rPr>
              <a:t>Data Aggregation: </a:t>
            </a:r>
            <a:r>
              <a:rPr lang="en-IN" sz="1200" dirty="0">
                <a:latin typeface="Sitka Display" pitchFamily="2" charset="0"/>
              </a:rPr>
              <a:t>The UI captures three streams of data: Incident Metadata (vehicle info, time), Geospatial Location (from the ArcGIS layer), and specific Violation Flags (via checkboxes).</a:t>
            </a:r>
          </a:p>
          <a:p>
            <a:pPr>
              <a:lnSpc>
                <a:spcPct val="110000"/>
              </a:lnSpc>
            </a:pPr>
            <a:r>
              <a:rPr lang="en-IN" sz="1200" dirty="0">
                <a:latin typeface="Sitka Display Semibold" pitchFamily="2" charset="0"/>
              </a:rPr>
              <a:t>The Spatial Relay Race: </a:t>
            </a:r>
            <a:r>
              <a:rPr lang="en-IN" sz="1200" dirty="0">
                <a:latin typeface="Sitka Display" pitchFamily="2" charset="0"/>
              </a:rPr>
              <a:t>Before making a prediction, the app loads your serialized </a:t>
            </a:r>
            <a:r>
              <a:rPr lang="en-IN" sz="1200" dirty="0" err="1">
                <a:latin typeface="Sitka Display" pitchFamily="2" charset="0"/>
              </a:rPr>
              <a:t>spatial_tree.pkl</a:t>
            </a:r>
            <a:r>
              <a:rPr lang="en-IN" sz="1200" dirty="0">
                <a:latin typeface="Sitka Display" pitchFamily="2" charset="0"/>
              </a:rPr>
              <a:t> (the </a:t>
            </a:r>
            <a:r>
              <a:rPr lang="en-IN" sz="1200" dirty="0" err="1">
                <a:latin typeface="Sitka Display" pitchFamily="2" charset="0"/>
              </a:rPr>
              <a:t>BallTree</a:t>
            </a:r>
            <a:r>
              <a:rPr lang="en-IN" sz="1200" dirty="0">
                <a:latin typeface="Sitka Display" pitchFamily="2" charset="0"/>
              </a:rPr>
              <a:t> index). It takes the newly fetched GPS coordinates, converts them to radians, and executes a sub-millisecond nearest-</a:t>
            </a:r>
            <a:r>
              <a:rPr lang="en-IN" sz="1200" dirty="0" err="1">
                <a:latin typeface="Sitka Display" pitchFamily="2" charset="0"/>
              </a:rPr>
              <a:t>neighbor</a:t>
            </a:r>
            <a:r>
              <a:rPr lang="en-IN" sz="1200" dirty="0">
                <a:latin typeface="Sitka Display" pitchFamily="2" charset="0"/>
              </a:rPr>
              <a:t> lookup (</a:t>
            </a:r>
            <a:r>
              <a:rPr lang="en-IN" sz="1200" dirty="0" err="1">
                <a:latin typeface="Sitka Display" pitchFamily="2" charset="0"/>
              </a:rPr>
              <a:t>spatial_tree.query</a:t>
            </a:r>
            <a:r>
              <a:rPr lang="en-IN" sz="1200" dirty="0">
                <a:latin typeface="Sitka Display" pitchFamily="2" charset="0"/>
              </a:rPr>
              <a:t>). If the new incident is within 200 meters of a historical chokepoint, it dynamically assigns that ticket to the specific </a:t>
            </a:r>
            <a:r>
              <a:rPr lang="en-IN" sz="1200" dirty="0" err="1">
                <a:latin typeface="Sitka Display" pitchFamily="2" charset="0"/>
              </a:rPr>
              <a:t>Cluster_ID</a:t>
            </a:r>
            <a:r>
              <a:rPr lang="en-IN" sz="1200" dirty="0">
                <a:latin typeface="Sitka Display" pitchFamily="2" charset="0"/>
              </a:rPr>
              <a:t>.</a:t>
            </a:r>
          </a:p>
          <a:p>
            <a:pPr>
              <a:lnSpc>
                <a:spcPct val="110000"/>
              </a:lnSpc>
            </a:pPr>
            <a:r>
              <a:rPr lang="en-IN" sz="1200" dirty="0">
                <a:latin typeface="Sitka Display Semibold" pitchFamily="2" charset="0"/>
              </a:rPr>
              <a:t>Feature Alignment &amp; Inference: </a:t>
            </a:r>
            <a:r>
              <a:rPr lang="en-IN" sz="1200" dirty="0">
                <a:latin typeface="Sitka Display" pitchFamily="2" charset="0"/>
              </a:rPr>
              <a:t>The app constructs an inference </a:t>
            </a:r>
            <a:r>
              <a:rPr lang="en-IN" sz="1200" dirty="0" err="1">
                <a:latin typeface="Sitka Display" pitchFamily="2" charset="0"/>
              </a:rPr>
              <a:t>dataframe</a:t>
            </a:r>
            <a:r>
              <a:rPr lang="en-IN" sz="1200" dirty="0">
                <a:latin typeface="Sitka Display" pitchFamily="2" charset="0"/>
              </a:rPr>
              <a:t> mimicking the exact state of the data during training. It applies Sine/Cosine transformations to the inputted time and converts the </a:t>
            </a:r>
            <a:r>
              <a:rPr lang="en-IN" sz="1200" dirty="0" err="1">
                <a:latin typeface="Sitka Display" pitchFamily="2" charset="0"/>
              </a:rPr>
              <a:t>boolean</a:t>
            </a:r>
            <a:r>
              <a:rPr lang="en-IN" sz="1200" dirty="0">
                <a:latin typeface="Sitka Display" pitchFamily="2" charset="0"/>
              </a:rPr>
              <a:t> checkboxes into integer flags (1s and 0s). Crucially, you utilized the </a:t>
            </a:r>
            <a:r>
              <a:rPr lang="en-IN" sz="1200" dirty="0" err="1">
                <a:latin typeface="Sitka Display" pitchFamily="2" charset="0"/>
              </a:rPr>
              <a:t>cb_model.feature_names</a:t>
            </a:r>
            <a:r>
              <a:rPr lang="en-IN" sz="1200" dirty="0">
                <a:latin typeface="Sitka Display" pitchFamily="2" charset="0"/>
              </a:rPr>
              <a:t>_ attribute to forcefully align the input columns and pad any missing features with "UNKNOWN" or "0.0", effectively </a:t>
            </a:r>
            <a:r>
              <a:rPr lang="en-IN" sz="1200" dirty="0" err="1">
                <a:latin typeface="Sitka Display" pitchFamily="2" charset="0"/>
              </a:rPr>
              <a:t>bulletproofing</a:t>
            </a:r>
            <a:r>
              <a:rPr lang="en-IN" sz="1200" dirty="0">
                <a:latin typeface="Sitka Display" pitchFamily="2" charset="0"/>
              </a:rPr>
              <a:t> the app against data-type crashes.</a:t>
            </a:r>
          </a:p>
          <a:p>
            <a:pPr>
              <a:lnSpc>
                <a:spcPct val="110000"/>
              </a:lnSpc>
            </a:pPr>
            <a:r>
              <a:rPr lang="en-IN" sz="1200" dirty="0">
                <a:latin typeface="Sitka Display Semibold" pitchFamily="2" charset="0"/>
              </a:rPr>
              <a:t>Output Rendering: </a:t>
            </a:r>
            <a:r>
              <a:rPr lang="en-IN" sz="1200" dirty="0">
                <a:latin typeface="Sitka Display" pitchFamily="2" charset="0"/>
              </a:rPr>
              <a:t>The model outputs a probability score using .</a:t>
            </a:r>
            <a:r>
              <a:rPr lang="en-IN" sz="1200" dirty="0" err="1">
                <a:latin typeface="Sitka Display" pitchFamily="2" charset="0"/>
              </a:rPr>
              <a:t>predict_proba</a:t>
            </a:r>
            <a:r>
              <a:rPr lang="en-IN" sz="1200" dirty="0">
                <a:latin typeface="Sitka Display" pitchFamily="2" charset="0"/>
              </a:rPr>
              <a:t>(). If the confidence exceeds 40%, the system approves the ticket. A dynamic Folium map is then generated, plotting a 200-meter radius around the incident and overlaying the historical cluster data points to visually justify the AI's spatial logic to the human operator.</a:t>
            </a:r>
          </a:p>
        </p:txBody>
      </p:sp>
    </p:spTree>
    <p:extLst>
      <p:ext uri="{BB962C8B-B14F-4D97-AF65-F5344CB8AC3E}">
        <p14:creationId xmlns:p14="http://schemas.microsoft.com/office/powerpoint/2010/main" val="4010069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89916-5496-AB95-3EBB-A456EF4CAAEE}"/>
              </a:ext>
            </a:extLst>
          </p:cNvPr>
          <p:cNvSpPr>
            <a:spLocks noGrp="1"/>
          </p:cNvSpPr>
          <p:nvPr>
            <p:ph type="title"/>
          </p:nvPr>
        </p:nvSpPr>
        <p:spPr>
          <a:xfrm>
            <a:off x="650535" y="1157591"/>
            <a:ext cx="10890929" cy="1097280"/>
          </a:xfrm>
        </p:spPr>
        <p:txBody>
          <a:bodyPr>
            <a:normAutofit/>
          </a:bodyPr>
          <a:lstStyle/>
          <a:p>
            <a:pPr algn="ctr"/>
            <a:r>
              <a:rPr lang="en-IN" sz="4400" dirty="0">
                <a:latin typeface="Sitka Banner Semibold" pitchFamily="2" charset="0"/>
              </a:rPr>
              <a:t>Automated Complaint Decision</a:t>
            </a:r>
          </a:p>
        </p:txBody>
      </p:sp>
      <p:pic>
        <p:nvPicPr>
          <p:cNvPr id="4" name="Picture 3" descr="The image shows a map displaying various roads and locations with a verification dashboard indicating a rejected spatial cluster mapping for a specific area, including roads like Olur, Agara, and NH44.&#10;&#10;AI-generated content may be incorrect.">
            <a:extLst>
              <a:ext uri="{FF2B5EF4-FFF2-40B4-BE49-F238E27FC236}">
                <a16:creationId xmlns:a16="http://schemas.microsoft.com/office/drawing/2014/main" id="{3113809C-C7AF-6538-F943-BF4BD8DBA474}"/>
              </a:ext>
            </a:extLst>
          </p:cNvPr>
          <p:cNvPicPr>
            <a:picLocks noChangeAspect="1"/>
          </p:cNvPicPr>
          <p:nvPr/>
        </p:nvPicPr>
        <p:blipFill>
          <a:blip r:embed="rId2"/>
          <a:stretch>
            <a:fillRect/>
          </a:stretch>
        </p:blipFill>
        <p:spPr>
          <a:xfrm>
            <a:off x="1314632" y="2459928"/>
            <a:ext cx="9562735" cy="4116409"/>
          </a:xfrm>
          <a:prstGeom prst="rect">
            <a:avLst/>
          </a:prstGeom>
        </p:spPr>
      </p:pic>
    </p:spTree>
    <p:extLst>
      <p:ext uri="{BB962C8B-B14F-4D97-AF65-F5344CB8AC3E}">
        <p14:creationId xmlns:p14="http://schemas.microsoft.com/office/powerpoint/2010/main" val="6966472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343C31-F501-CF81-4E9C-39C7DE358C47}"/>
              </a:ext>
            </a:extLst>
          </p:cNvPr>
          <p:cNvSpPr>
            <a:spLocks noGrp="1"/>
          </p:cNvSpPr>
          <p:nvPr>
            <p:ph type="title"/>
          </p:nvPr>
        </p:nvSpPr>
        <p:spPr>
          <a:xfrm>
            <a:off x="640080" y="914399"/>
            <a:ext cx="10847494" cy="1171069"/>
          </a:xfrm>
        </p:spPr>
        <p:txBody>
          <a:bodyPr anchor="t">
            <a:normAutofit/>
          </a:bodyPr>
          <a:lstStyle/>
          <a:p>
            <a:pPr>
              <a:lnSpc>
                <a:spcPct val="90000"/>
              </a:lnSpc>
            </a:pPr>
            <a:r>
              <a:rPr lang="en-IN" sz="3700" b="0"/>
              <a:t>📦</a:t>
            </a:r>
            <a:r>
              <a:rPr lang="en-IN" sz="3700">
                <a:latin typeface="Sitka Small Semibold" pitchFamily="2" charset="0"/>
              </a:rPr>
              <a:t>Engine 2: Predictive Logistics (Flipkart API)</a:t>
            </a:r>
          </a:p>
        </p:txBody>
      </p:sp>
      <p:pic>
        <p:nvPicPr>
          <p:cNvPr id="5" name="Picture 4" descr="The image displays a dashboard interface for a delivery routing software, featuring options to filter and predict delivery chokepoints based on historical congestion data, with a selected destination zone and time parameters.&#10;&#10;AI-generated content may be incorrect.">
            <a:extLst>
              <a:ext uri="{FF2B5EF4-FFF2-40B4-BE49-F238E27FC236}">
                <a16:creationId xmlns:a16="http://schemas.microsoft.com/office/drawing/2014/main" id="{0EAAD88C-12CC-167B-CB10-1F6596ACE32A}"/>
              </a:ext>
            </a:extLst>
          </p:cNvPr>
          <p:cNvPicPr>
            <a:picLocks noChangeAspect="1"/>
          </p:cNvPicPr>
          <p:nvPr/>
        </p:nvPicPr>
        <p:blipFill>
          <a:blip r:embed="rId2"/>
          <a:stretch>
            <a:fillRect/>
          </a:stretch>
        </p:blipFill>
        <p:spPr>
          <a:xfrm>
            <a:off x="713232" y="2950396"/>
            <a:ext cx="5648193" cy="2372241"/>
          </a:xfrm>
          <a:prstGeom prst="rect">
            <a:avLst/>
          </a:prstGeom>
        </p:spPr>
      </p:pic>
      <p:sp>
        <p:nvSpPr>
          <p:cNvPr id="3" name="Content Placeholder 2">
            <a:extLst>
              <a:ext uri="{FF2B5EF4-FFF2-40B4-BE49-F238E27FC236}">
                <a16:creationId xmlns:a16="http://schemas.microsoft.com/office/drawing/2014/main" id="{307F7C17-00F3-1C49-A2C1-FF9381B45653}"/>
              </a:ext>
            </a:extLst>
          </p:cNvPr>
          <p:cNvSpPr>
            <a:spLocks noGrp="1"/>
          </p:cNvSpPr>
          <p:nvPr>
            <p:ph idx="1"/>
          </p:nvPr>
        </p:nvSpPr>
        <p:spPr>
          <a:xfrm>
            <a:off x="6915150" y="2256287"/>
            <a:ext cx="4563618" cy="3760459"/>
          </a:xfrm>
        </p:spPr>
        <p:txBody>
          <a:bodyPr anchor="t">
            <a:normAutofit/>
          </a:bodyPr>
          <a:lstStyle/>
          <a:p>
            <a:pPr>
              <a:lnSpc>
                <a:spcPct val="110000"/>
              </a:lnSpc>
            </a:pPr>
            <a:r>
              <a:rPr lang="en-IN" sz="1100">
                <a:latin typeface="Sitka Display Semibold" pitchFamily="2" charset="0"/>
              </a:rPr>
              <a:t>Temporal Filtering</a:t>
            </a:r>
            <a:r>
              <a:rPr lang="en-IN" sz="1100" b="1"/>
              <a:t>:</a:t>
            </a:r>
            <a:r>
              <a:rPr lang="en-IN" sz="1100"/>
              <a:t> </a:t>
            </a:r>
            <a:r>
              <a:rPr lang="en-IN" sz="1100">
                <a:latin typeface="Sitka Display" pitchFamily="2" charset="0"/>
              </a:rPr>
              <a:t>Users manipulate sliders and dropdowns to select a specific operational window (e.g., Friday at 18:00). The app cross-references this against the reverse-engineered logistics </a:t>
            </a:r>
            <a:r>
              <a:rPr lang="en-IN" sz="1100" err="1">
                <a:latin typeface="Sitka Display" pitchFamily="2" charset="0"/>
              </a:rPr>
              <a:t>dataframe</a:t>
            </a:r>
            <a:r>
              <a:rPr lang="en-IN" sz="1100">
                <a:latin typeface="Sitka Display" pitchFamily="2" charset="0"/>
              </a:rPr>
              <a:t> to isolate historical congestion patterns for that exact time slice.</a:t>
            </a:r>
          </a:p>
          <a:p>
            <a:pPr>
              <a:lnSpc>
                <a:spcPct val="110000"/>
              </a:lnSpc>
            </a:pPr>
            <a:r>
              <a:rPr lang="en-IN" sz="1100">
                <a:latin typeface="Sitka Display Semibold" pitchFamily="2" charset="0"/>
              </a:rPr>
              <a:t>Threshold Triage: </a:t>
            </a:r>
            <a:r>
              <a:rPr lang="en-IN" sz="1100">
                <a:latin typeface="Sitka Display" pitchFamily="2" charset="0"/>
              </a:rPr>
              <a:t>You implemented a routing logic script that evaluates the volume of active violations in a target delivery zone. If the volume breaches a set threshold (e.g., 50 violations), the system triggers a "High Congestion Alert."</a:t>
            </a:r>
          </a:p>
          <a:p>
            <a:pPr>
              <a:lnSpc>
                <a:spcPct val="110000"/>
              </a:lnSpc>
            </a:pPr>
            <a:r>
              <a:rPr lang="en-IN" sz="1100">
                <a:latin typeface="Sitka Display Semibold" pitchFamily="2" charset="0"/>
              </a:rPr>
              <a:t>Dynamic Fleet Protocol: </a:t>
            </a:r>
            <a:r>
              <a:rPr lang="en-IN" sz="1100">
                <a:latin typeface="Sitka Display" pitchFamily="2" charset="0"/>
              </a:rPr>
              <a:t>Based on the severity of the spatial bottlenecks, the app automatically recommends a shift in logistics strategy—advising a switch from Heavy Goods Vehicles to Light Vans, or pivoting to 2-Wheeler EVs in severe gridlock.</a:t>
            </a:r>
          </a:p>
          <a:p>
            <a:pPr>
              <a:lnSpc>
                <a:spcPct val="110000"/>
              </a:lnSpc>
            </a:pPr>
            <a:r>
              <a:rPr lang="en-IN" sz="1100">
                <a:latin typeface="Sitka Display Semibold" pitchFamily="2" charset="0"/>
              </a:rPr>
              <a:t>The Dark Matter Map: </a:t>
            </a:r>
            <a:r>
              <a:rPr lang="en-IN" sz="1100">
                <a:latin typeface="Sitka Display" pitchFamily="2" charset="0"/>
              </a:rPr>
              <a:t>To visualize the operational impact, the dashboard renders a specialized </a:t>
            </a:r>
            <a:r>
              <a:rPr lang="en-IN" sz="1100" err="1">
                <a:latin typeface="Sitka Display" pitchFamily="2" charset="0"/>
              </a:rPr>
              <a:t>CartoDB</a:t>
            </a:r>
            <a:r>
              <a:rPr lang="en-IN" sz="1100">
                <a:latin typeface="Sitka Display" pitchFamily="2" charset="0"/>
              </a:rPr>
              <a:t> </a:t>
            </a:r>
            <a:r>
              <a:rPr lang="en-IN" sz="1100" err="1">
                <a:latin typeface="Sitka Display" pitchFamily="2" charset="0"/>
              </a:rPr>
              <a:t>dark_matter</a:t>
            </a:r>
            <a:r>
              <a:rPr lang="en-IN" sz="1100">
                <a:latin typeface="Sitka Display" pitchFamily="2" charset="0"/>
              </a:rPr>
              <a:t> Folium map. It samples the active chokepoints and scales the marker radii based on the vehicle type involved, visually highlighting exactly where heavy trucks are currently paralyzed across Bengaluru.</a:t>
            </a:r>
          </a:p>
          <a:p>
            <a:pPr>
              <a:lnSpc>
                <a:spcPct val="110000"/>
              </a:lnSpc>
            </a:pPr>
            <a:endParaRPr lang="en-IN" sz="1100"/>
          </a:p>
        </p:txBody>
      </p:sp>
      <p:cxnSp>
        <p:nvCxnSpPr>
          <p:cNvPr id="12" name="Straight Connector 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078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AB04E-284E-9F57-58DB-2E1C9FC3820E}"/>
              </a:ext>
            </a:extLst>
          </p:cNvPr>
          <p:cNvSpPr>
            <a:spLocks noGrp="1"/>
          </p:cNvSpPr>
          <p:nvPr>
            <p:ph type="title"/>
          </p:nvPr>
        </p:nvSpPr>
        <p:spPr>
          <a:xfrm>
            <a:off x="968968" y="1312607"/>
            <a:ext cx="10254063" cy="781664"/>
          </a:xfrm>
        </p:spPr>
        <p:txBody>
          <a:bodyPr>
            <a:normAutofit/>
          </a:bodyPr>
          <a:lstStyle/>
          <a:p>
            <a:pPr algn="ctr"/>
            <a:r>
              <a:rPr lang="en-IN" sz="4400" dirty="0">
                <a:latin typeface="Sitka Banner Semibold" pitchFamily="2" charset="0"/>
              </a:rPr>
              <a:t>Data-Driven Route Insights</a:t>
            </a:r>
          </a:p>
        </p:txBody>
      </p:sp>
      <p:pic>
        <p:nvPicPr>
          <p:cNvPr id="4" name="Picture 3" descr="The image displays an Operational Impact Dashboard showing severe congestion and active blockages on key urban chokepoints in cities like Nelamangala, Hoskote, Maluru, and Magadi at 6:00, with an estimated fleet delay avoided of 190 minutes and a fleet routing protocol for 2-Wheeler EVs.&#10;&#10;AI-generated content may be incorrect.">
            <a:extLst>
              <a:ext uri="{FF2B5EF4-FFF2-40B4-BE49-F238E27FC236}">
                <a16:creationId xmlns:a16="http://schemas.microsoft.com/office/drawing/2014/main" id="{C01F48CF-B239-D75B-62F8-429C24F70926}"/>
              </a:ext>
            </a:extLst>
          </p:cNvPr>
          <p:cNvPicPr>
            <a:picLocks noChangeAspect="1"/>
          </p:cNvPicPr>
          <p:nvPr/>
        </p:nvPicPr>
        <p:blipFill>
          <a:blip r:embed="rId2"/>
          <a:stretch>
            <a:fillRect/>
          </a:stretch>
        </p:blipFill>
        <p:spPr>
          <a:xfrm>
            <a:off x="2234256" y="2449216"/>
            <a:ext cx="7723485" cy="4140160"/>
          </a:xfrm>
          <a:prstGeom prst="rect">
            <a:avLst/>
          </a:prstGeom>
        </p:spPr>
      </p:pic>
    </p:spTree>
    <p:extLst>
      <p:ext uri="{BB962C8B-B14F-4D97-AF65-F5344CB8AC3E}">
        <p14:creationId xmlns:p14="http://schemas.microsoft.com/office/powerpoint/2010/main" val="21333465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8E4EF9489483247AD152F702934E38A" ma:contentTypeVersion="5" ma:contentTypeDescription="Create a new document." ma:contentTypeScope="" ma:versionID="d998a643455678be3edb1279e61f1cc0">
  <xsd:schema xmlns:xsd="http://www.w3.org/2001/XMLSchema" xmlns:xs="http://www.w3.org/2001/XMLSchema" xmlns:p="http://schemas.microsoft.com/office/2006/metadata/properties" xmlns:ns3="cfcc9204-5bb2-433b-8568-6a03fd96aabd" targetNamespace="http://schemas.microsoft.com/office/2006/metadata/properties" ma:root="true" ma:fieldsID="4519b6ebbac87dce282ae9e20cf85516" ns3:_="">
    <xsd:import namespace="cfcc9204-5bb2-433b-8568-6a03fd96aab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cc9204-5bb2-433b-8568-6a03fd96aab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fcc9204-5bb2-433b-8568-6a03fd96aabd" xsi:nil="true"/>
  </documentManagement>
</p:properties>
</file>

<file path=customXml/itemProps1.xml><?xml version="1.0" encoding="utf-8"?>
<ds:datastoreItem xmlns:ds="http://schemas.openxmlformats.org/officeDocument/2006/customXml" ds:itemID="{DD7AA90B-0843-464F-9521-7CC968CA0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fcc9204-5bb2-433b-8568-6a03fd96aa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4FDE52C-51F6-4573-8723-49B6606D4789}">
  <ds:schemaRefs>
    <ds:schemaRef ds:uri="http://schemas.microsoft.com/sharepoint/v3/contenttype/forms"/>
  </ds:schemaRefs>
</ds:datastoreItem>
</file>

<file path=customXml/itemProps3.xml><?xml version="1.0" encoding="utf-8"?>
<ds:datastoreItem xmlns:ds="http://schemas.openxmlformats.org/officeDocument/2006/customXml" ds:itemID="{38A3C066-580F-4064-93B0-1B9EB34EF90E}">
  <ds:schemaRefs>
    <ds:schemaRef ds:uri="http://purl.org/dc/terms/"/>
    <ds:schemaRef ds:uri="http://purl.org/dc/dcmitype/"/>
    <ds:schemaRef ds:uri="http://schemas.microsoft.com/office/2006/metadata/properties"/>
    <ds:schemaRef ds:uri="http://schemas.microsoft.com/office/2006/documentManagement/types"/>
    <ds:schemaRef ds:uri="http://purl.org/dc/elements/1.1/"/>
    <ds:schemaRef ds:uri="cfcc9204-5bb2-433b-8568-6a03fd96aabd"/>
    <ds:schemaRef ds:uri="http://schemas.openxmlformats.org/package/2006/metadata/core-properties"/>
    <ds:schemaRef ds:uri="http://schemas.microsoft.com/office/infopath/2007/PartnerControls"/>
    <ds:schemaRef ds:uri="http://www.w3.org/XML/1998/namespace"/>
  </ds:schemaRefs>
</ds:datastoreItem>
</file>

<file path=docMetadata/LabelInfo.xml><?xml version="1.0" encoding="utf-8"?>
<clbl:labelList xmlns:clbl="http://schemas.microsoft.com/office/2020/mipLabelMetadata">
  <clbl:label id="{29bebd42-f1ff-4c3d-9688-067e3460dc1f}" enabled="0" method="" siteId="{29bebd42-f1ff-4c3d-9688-067e3460dc1f}" removed="1"/>
</clbl:labelList>
</file>

<file path=docProps/app.xml><?xml version="1.0" encoding="utf-8"?>
<Properties xmlns="http://schemas.openxmlformats.org/officeDocument/2006/extended-properties" xmlns:vt="http://schemas.openxmlformats.org/officeDocument/2006/docPropsVTypes">
  <TotalTime>903</TotalTime>
  <Words>1950</Words>
  <Application>Microsoft Office PowerPoint</Application>
  <PresentationFormat>Widescreen</PresentationFormat>
  <Paragraphs>65</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Grandview Display</vt:lpstr>
      <vt:lpstr>Sitka Banner Semibold</vt:lpstr>
      <vt:lpstr>Sitka Display</vt:lpstr>
      <vt:lpstr>Sitka Display </vt:lpstr>
      <vt:lpstr>Sitka Display Semibold</vt:lpstr>
      <vt:lpstr>Sitka Small Semibold</vt:lpstr>
      <vt:lpstr>DashVTI</vt:lpstr>
      <vt:lpstr>Ondu Nimisha AI</vt:lpstr>
      <vt:lpstr>How Human Approval Distorts Traffic Flow?</vt:lpstr>
      <vt:lpstr>Human Capacity Bottleneck</vt:lpstr>
      <vt:lpstr>Spatial Backlog Heatmap by Jurisdictional Zone (Horizontal Bar Chart)</vt:lpstr>
      <vt:lpstr>Supply Chain Risk Matrix</vt:lpstr>
      <vt:lpstr>RISE AI Architecture</vt:lpstr>
      <vt:lpstr>Data Cleaning and Preprocessing</vt:lpstr>
      <vt:lpstr>Data Cleaning and Preprocessing</vt:lpstr>
      <vt:lpstr>Training and Impelementing a CatBoostModel</vt:lpstr>
      <vt:lpstr>Training and Impelementing a CatBoostModel</vt:lpstr>
      <vt:lpstr>Training and Impelementing a CatBoostModel</vt:lpstr>
      <vt:lpstr>Training and Impelementing a CatBoostModel</vt:lpstr>
      <vt:lpstr>Output of CatBoost Model</vt:lpstr>
      <vt:lpstr>Overview of the Application Prototype</vt:lpstr>
      <vt:lpstr>Overview of the Application Prototype</vt:lpstr>
      <vt:lpstr>🚨 Engine 1: Police Command Center</vt:lpstr>
      <vt:lpstr>Automated Complaint Decision</vt:lpstr>
      <vt:lpstr>📦Engine 2: Predictive Logistics (Flipkart API)</vt:lpstr>
      <vt:lpstr>Data-Driven Route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PATANKAR RUDRA AMIT - 251090070134 - MITMPL</dc:creator>
  <cp:lastModifiedBy>PATANKAR RUDRA AMIT - 251090070134 - MITMPL</cp:lastModifiedBy>
  <cp:revision>5</cp:revision>
  <dcterms:created xsi:type="dcterms:W3CDTF">2026-06-19T11:11:13Z</dcterms:created>
  <dcterms:modified xsi:type="dcterms:W3CDTF">2026-06-20T14:06:41Z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0x010100B8E4EF9489483247AD152F702934E38A</vt:lpwstr>
  </property>
</Properties>
</file>